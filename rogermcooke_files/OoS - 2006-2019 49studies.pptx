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rawings/drawing2.xml" ContentType="application/vnd.openxmlformats-officedocument.drawingml.chartshapes+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rts/chart3.xml" ContentType="application/vnd.openxmlformats-officedocument.drawingml.char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drawings/drawing3.xml" ContentType="application/vnd.openxmlformats-officedocument.drawingml.chartshape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rawings/drawing1.xml" ContentType="application/vnd.openxmlformats-officedocument.drawingml.chartshape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79"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81" r:id="rId20"/>
    <p:sldId id="282" r:id="rId21"/>
    <p:sldId id="283" r:id="rId22"/>
    <p:sldId id="284" r:id="rId23"/>
    <p:sldId id="285" r:id="rId24"/>
    <p:sldId id="293" r:id="rId25"/>
    <p:sldId id="298" r:id="rId26"/>
    <p:sldId id="294" r:id="rId27"/>
    <p:sldId id="291" r:id="rId28"/>
    <p:sldId id="286" r:id="rId29"/>
    <p:sldId id="296" r:id="rId30"/>
    <p:sldId id="287" r:id="rId31"/>
    <p:sldId id="288" r:id="rId32"/>
    <p:sldId id="289" r:id="rId33"/>
    <p:sldId id="290" r:id="rId34"/>
    <p:sldId id="292" r:id="rId3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04" autoAdjust="0"/>
    <p:restoredTop sz="94713" autoAdjust="0"/>
  </p:normalViewPr>
  <p:slideViewPr>
    <p:cSldViewPr>
      <p:cViewPr varScale="1">
        <p:scale>
          <a:sx n="61" d="100"/>
          <a:sy n="61" d="100"/>
        </p:scale>
        <p:origin x="-1109" y="-77"/>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harts/_rels/chart1.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oleObject" Target="file:///C:\mydocums\EJ%20articles%20&amp;%20shortcourse\Cross%20validation\cross%20validation%20article\summary.xlsm" TargetMode="External"/><Relationship Id="rId1" Type="http://schemas.openxmlformats.org/officeDocument/2006/relationships/image" Target="../media/image145.jpeg"/></Relationships>
</file>

<file path=ppt/charts/_rels/chart2.xml.rels><?xml version="1.0" encoding="UTF-8" standalone="yes"?>
<Relationships xmlns="http://schemas.openxmlformats.org/package/2006/relationships"><Relationship Id="rId3" Type="http://schemas.openxmlformats.org/officeDocument/2006/relationships/chartUserShapes" Target="../drawings/drawing2.xml"/><Relationship Id="rId2" Type="http://schemas.openxmlformats.org/officeDocument/2006/relationships/oleObject" Target="file:///C:\mydocums\EJ%20articles%20&amp;%20shortcourse\Cross%20validation\cross%20validation%20article\summary.xlsm" TargetMode="External"/><Relationship Id="rId1" Type="http://schemas.openxmlformats.org/officeDocument/2006/relationships/image" Target="../media/image145.jpeg"/></Relationships>
</file>

<file path=ppt/charts/_rels/chart3.xml.rels><?xml version="1.0" encoding="UTF-8" standalone="yes"?>
<Relationships xmlns="http://schemas.openxmlformats.org/package/2006/relationships"><Relationship Id="rId3" Type="http://schemas.openxmlformats.org/officeDocument/2006/relationships/chartUserShapes" Target="../drawings/drawing3.xml"/><Relationship Id="rId2" Type="http://schemas.openxmlformats.org/officeDocument/2006/relationships/oleObject" Target="file:///C:\mydocums\EJ%20articles%20&amp;%20shortcourse\Cross%20validation\cross%20validation%20article\summary.xlsm" TargetMode="External"/><Relationship Id="rId1" Type="http://schemas.openxmlformats.org/officeDocument/2006/relationships/image" Target="../media/image145.jpeg"/></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hart>
    <c:plotArea>
      <c:layout>
        <c:manualLayout>
          <c:layoutTarget val="inner"/>
          <c:xMode val="edge"/>
          <c:yMode val="edge"/>
          <c:x val="7.9002187226598547E-2"/>
          <c:y val="5.1400554097404488E-2"/>
          <c:w val="0.78754090113734265"/>
          <c:h val="0.74928623505395153"/>
        </c:manualLayout>
      </c:layout>
      <c:barChart>
        <c:barDir val="col"/>
        <c:grouping val="clustered"/>
        <c:ser>
          <c:idx val="0"/>
          <c:order val="0"/>
          <c:tx>
            <c:strRef>
              <c:f>EWSA!$AI$28</c:f>
              <c:strCache>
                <c:ptCount val="1"/>
                <c:pt idx="0">
                  <c:v>PWSa</c:v>
                </c:pt>
              </c:strCache>
            </c:strRef>
          </c:tx>
          <c:spPr>
            <a:blipFill>
              <a:blip xmlns:r="http://schemas.openxmlformats.org/officeDocument/2006/relationships" r:embed="rId1"/>
              <a:tile tx="0" ty="0" sx="100000" sy="100000" flip="none" algn="tl"/>
            </a:blipFill>
          </c:spPr>
          <c:cat>
            <c:numRef>
              <c:f>EWSA!$A$29:$A$37</c:f>
              <c:numCache>
                <c:formatCode>0%</c:formatCode>
                <c:ptCount val="9"/>
                <c:pt idx="0">
                  <c:v>0.1</c:v>
                </c:pt>
                <c:pt idx="1">
                  <c:v>0.2</c:v>
                </c:pt>
                <c:pt idx="2">
                  <c:v>0.30000000000000032</c:v>
                </c:pt>
                <c:pt idx="3">
                  <c:v>0.4</c:v>
                </c:pt>
                <c:pt idx="4">
                  <c:v>0.5</c:v>
                </c:pt>
                <c:pt idx="5">
                  <c:v>0.60000000000000064</c:v>
                </c:pt>
                <c:pt idx="6">
                  <c:v>0.70000000000000062</c:v>
                </c:pt>
                <c:pt idx="7">
                  <c:v>0.8</c:v>
                </c:pt>
                <c:pt idx="8">
                  <c:v>0.9</c:v>
                </c:pt>
              </c:numCache>
            </c:numRef>
          </c:cat>
          <c:val>
            <c:numRef>
              <c:f>EWSA!$AI$29:$AI$37</c:f>
              <c:numCache>
                <c:formatCode>General</c:formatCode>
                <c:ptCount val="9"/>
                <c:pt idx="0">
                  <c:v>0.29532891252728405</c:v>
                </c:pt>
                <c:pt idx="1">
                  <c:v>0.28497992909091663</c:v>
                </c:pt>
                <c:pt idx="2">
                  <c:v>0.28668608684849151</c:v>
                </c:pt>
                <c:pt idx="3">
                  <c:v>0.29432934778789038</c:v>
                </c:pt>
                <c:pt idx="4">
                  <c:v>0.3036970046666666</c:v>
                </c:pt>
                <c:pt idx="5">
                  <c:v>0.32906339721212885</c:v>
                </c:pt>
                <c:pt idx="6">
                  <c:v>0.36263599730303042</c:v>
                </c:pt>
                <c:pt idx="7">
                  <c:v>0.41518971969696988</c:v>
                </c:pt>
                <c:pt idx="8">
                  <c:v>0.53083104648486201</c:v>
                </c:pt>
              </c:numCache>
            </c:numRef>
          </c:val>
        </c:ser>
        <c:ser>
          <c:idx val="1"/>
          <c:order val="1"/>
          <c:tx>
            <c:strRef>
              <c:f>EWSA!$AJ$28</c:f>
              <c:strCache>
                <c:ptCount val="1"/>
                <c:pt idx="0">
                  <c:v>EWSa</c:v>
                </c:pt>
              </c:strCache>
            </c:strRef>
          </c:tx>
          <c:cat>
            <c:numRef>
              <c:f>EWSA!$A$29:$A$37</c:f>
              <c:numCache>
                <c:formatCode>0%</c:formatCode>
                <c:ptCount val="9"/>
                <c:pt idx="0">
                  <c:v>0.1</c:v>
                </c:pt>
                <c:pt idx="1">
                  <c:v>0.2</c:v>
                </c:pt>
                <c:pt idx="2">
                  <c:v>0.30000000000000032</c:v>
                </c:pt>
                <c:pt idx="3">
                  <c:v>0.4</c:v>
                </c:pt>
                <c:pt idx="4">
                  <c:v>0.5</c:v>
                </c:pt>
                <c:pt idx="5">
                  <c:v>0.60000000000000064</c:v>
                </c:pt>
                <c:pt idx="6">
                  <c:v>0.70000000000000062</c:v>
                </c:pt>
                <c:pt idx="7">
                  <c:v>0.8</c:v>
                </c:pt>
                <c:pt idx="8">
                  <c:v>0.9</c:v>
                </c:pt>
              </c:numCache>
            </c:numRef>
          </c:cat>
          <c:val>
            <c:numRef>
              <c:f>EWSA!$AJ$29:$AJ$37</c:f>
              <c:numCache>
                <c:formatCode>General</c:formatCode>
                <c:ptCount val="9"/>
                <c:pt idx="0">
                  <c:v>0.34521102360250938</c:v>
                </c:pt>
                <c:pt idx="1">
                  <c:v>0.36872266366759815</c:v>
                </c:pt>
                <c:pt idx="2">
                  <c:v>0.39079619566535345</c:v>
                </c:pt>
                <c:pt idx="3">
                  <c:v>0.41535799249376082</c:v>
                </c:pt>
                <c:pt idx="4">
                  <c:v>0.44876745312979982</c:v>
                </c:pt>
                <c:pt idx="5">
                  <c:v>0.47696964887283932</c:v>
                </c:pt>
                <c:pt idx="6">
                  <c:v>0.51174068528424022</c:v>
                </c:pt>
                <c:pt idx="7">
                  <c:v>0.54873801443020065</c:v>
                </c:pt>
                <c:pt idx="8">
                  <c:v>0.62775847724181078</c:v>
                </c:pt>
              </c:numCache>
            </c:numRef>
          </c:val>
        </c:ser>
        <c:axId val="114469504"/>
        <c:axId val="114746112"/>
      </c:barChart>
      <c:catAx>
        <c:axId val="114469504"/>
        <c:scaling>
          <c:orientation val="minMax"/>
        </c:scaling>
        <c:axPos val="b"/>
        <c:numFmt formatCode="0%" sourceLinked="1"/>
        <c:tickLblPos val="nextTo"/>
        <c:crossAx val="114746112"/>
        <c:crosses val="autoZero"/>
        <c:auto val="1"/>
        <c:lblAlgn val="ctr"/>
        <c:lblOffset val="100"/>
      </c:catAx>
      <c:valAx>
        <c:axId val="114746112"/>
        <c:scaling>
          <c:orientation val="minMax"/>
        </c:scaling>
        <c:axPos val="l"/>
        <c:majorGridlines/>
        <c:numFmt formatCode="General" sourceLinked="1"/>
        <c:tickLblPos val="nextTo"/>
        <c:crossAx val="114469504"/>
        <c:crosses val="autoZero"/>
        <c:crossBetween val="between"/>
      </c:valAx>
    </c:plotArea>
    <c:legend>
      <c:legendPos val="r"/>
      <c:layout/>
    </c:legend>
    <c:plotVisOnly val="1"/>
    <c:dispBlanksAs val="gap"/>
  </c:chart>
  <c:externalData r:id="rId2"/>
  <c:userShapes r:id="rId3"/>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chart>
    <c:plotArea>
      <c:layout>
        <c:manualLayout>
          <c:layoutTarget val="inner"/>
          <c:xMode val="edge"/>
          <c:yMode val="edge"/>
          <c:x val="7.9002187226597534E-2"/>
          <c:y val="5.1400554097404488E-2"/>
          <c:w val="0.75747134733160004"/>
          <c:h val="0.77706401283173065"/>
        </c:manualLayout>
      </c:layout>
      <c:barChart>
        <c:barDir val="col"/>
        <c:grouping val="clustered"/>
        <c:ser>
          <c:idx val="0"/>
          <c:order val="0"/>
          <c:tx>
            <c:strRef>
              <c:f>EWInf!$AJ$28</c:f>
              <c:strCache>
                <c:ptCount val="1"/>
                <c:pt idx="0">
                  <c:v>PWInf</c:v>
                </c:pt>
              </c:strCache>
            </c:strRef>
          </c:tx>
          <c:spPr>
            <a:blipFill>
              <a:blip xmlns:r="http://schemas.openxmlformats.org/officeDocument/2006/relationships" r:embed="rId1"/>
              <a:tile tx="0" ty="0" sx="100000" sy="100000" flip="none" algn="tl"/>
            </a:blipFill>
          </c:spPr>
          <c:cat>
            <c:numRef>
              <c:f>EWInf!$A$29:$A$37</c:f>
              <c:numCache>
                <c:formatCode>0%</c:formatCode>
                <c:ptCount val="9"/>
                <c:pt idx="0">
                  <c:v>0.1</c:v>
                </c:pt>
                <c:pt idx="1">
                  <c:v>0.2</c:v>
                </c:pt>
                <c:pt idx="2">
                  <c:v>0.30000000000000032</c:v>
                </c:pt>
                <c:pt idx="3">
                  <c:v>0.4</c:v>
                </c:pt>
                <c:pt idx="4">
                  <c:v>0.5</c:v>
                </c:pt>
                <c:pt idx="5">
                  <c:v>0.60000000000000064</c:v>
                </c:pt>
                <c:pt idx="6">
                  <c:v>0.70000000000000062</c:v>
                </c:pt>
                <c:pt idx="7">
                  <c:v>0.8</c:v>
                </c:pt>
                <c:pt idx="8">
                  <c:v>0.9</c:v>
                </c:pt>
              </c:numCache>
            </c:numRef>
          </c:cat>
          <c:val>
            <c:numRef>
              <c:f>EWInf!$AJ$29:$AJ$37</c:f>
              <c:numCache>
                <c:formatCode>General</c:formatCode>
                <c:ptCount val="9"/>
                <c:pt idx="0">
                  <c:v>0.7651615138046387</c:v>
                </c:pt>
                <c:pt idx="1">
                  <c:v>0.88945504957573429</c:v>
                </c:pt>
                <c:pt idx="2">
                  <c:v>0.93235867863182464</c:v>
                </c:pt>
                <c:pt idx="3">
                  <c:v>0.95421367538328461</c:v>
                </c:pt>
                <c:pt idx="4">
                  <c:v>0.98606445016752053</c:v>
                </c:pt>
                <c:pt idx="5">
                  <c:v>0.97504529434763065</c:v>
                </c:pt>
                <c:pt idx="6">
                  <c:v>0.99045716986715926</c:v>
                </c:pt>
                <c:pt idx="7">
                  <c:v>0.96253651727158762</c:v>
                </c:pt>
                <c:pt idx="8">
                  <c:v>0.96415011635443326</c:v>
                </c:pt>
              </c:numCache>
            </c:numRef>
          </c:val>
        </c:ser>
        <c:ser>
          <c:idx val="1"/>
          <c:order val="1"/>
          <c:tx>
            <c:strRef>
              <c:f>EWInf!$AK$28</c:f>
              <c:strCache>
                <c:ptCount val="1"/>
                <c:pt idx="0">
                  <c:v>EWInf</c:v>
                </c:pt>
              </c:strCache>
            </c:strRef>
          </c:tx>
          <c:cat>
            <c:numRef>
              <c:f>EWInf!$A$29:$A$37</c:f>
              <c:numCache>
                <c:formatCode>0%</c:formatCode>
                <c:ptCount val="9"/>
                <c:pt idx="0">
                  <c:v>0.1</c:v>
                </c:pt>
                <c:pt idx="1">
                  <c:v>0.2</c:v>
                </c:pt>
                <c:pt idx="2">
                  <c:v>0.30000000000000032</c:v>
                </c:pt>
                <c:pt idx="3">
                  <c:v>0.4</c:v>
                </c:pt>
                <c:pt idx="4">
                  <c:v>0.5</c:v>
                </c:pt>
                <c:pt idx="5">
                  <c:v>0.60000000000000064</c:v>
                </c:pt>
                <c:pt idx="6">
                  <c:v>0.70000000000000062</c:v>
                </c:pt>
                <c:pt idx="7">
                  <c:v>0.8</c:v>
                </c:pt>
                <c:pt idx="8">
                  <c:v>0.9</c:v>
                </c:pt>
              </c:numCache>
            </c:numRef>
          </c:cat>
          <c:val>
            <c:numRef>
              <c:f>EWInf!$AK$29:$AK$37</c:f>
              <c:numCache>
                <c:formatCode>General</c:formatCode>
                <c:ptCount val="9"/>
                <c:pt idx="0">
                  <c:v>0.49735928118182876</c:v>
                </c:pt>
                <c:pt idx="1">
                  <c:v>0.49735928118182876</c:v>
                </c:pt>
                <c:pt idx="2">
                  <c:v>0.49735928118182876</c:v>
                </c:pt>
                <c:pt idx="3">
                  <c:v>0.49735928118182876</c:v>
                </c:pt>
                <c:pt idx="4">
                  <c:v>0.49735928118182876</c:v>
                </c:pt>
                <c:pt idx="5">
                  <c:v>0.49735928118182876</c:v>
                </c:pt>
                <c:pt idx="6">
                  <c:v>0.49735928118182876</c:v>
                </c:pt>
                <c:pt idx="7">
                  <c:v>0.49735928118182876</c:v>
                </c:pt>
                <c:pt idx="8">
                  <c:v>0.49735928118182876</c:v>
                </c:pt>
              </c:numCache>
            </c:numRef>
          </c:val>
        </c:ser>
        <c:axId val="115254400"/>
        <c:axId val="115255936"/>
      </c:barChart>
      <c:catAx>
        <c:axId val="115254400"/>
        <c:scaling>
          <c:orientation val="minMax"/>
        </c:scaling>
        <c:axPos val="b"/>
        <c:numFmt formatCode="0%" sourceLinked="1"/>
        <c:tickLblPos val="nextTo"/>
        <c:crossAx val="115255936"/>
        <c:crosses val="autoZero"/>
        <c:auto val="1"/>
        <c:lblAlgn val="ctr"/>
        <c:lblOffset val="100"/>
      </c:catAx>
      <c:valAx>
        <c:axId val="115255936"/>
        <c:scaling>
          <c:orientation val="minMax"/>
        </c:scaling>
        <c:axPos val="l"/>
        <c:majorGridlines/>
        <c:numFmt formatCode="General" sourceLinked="1"/>
        <c:tickLblPos val="nextTo"/>
        <c:crossAx val="115254400"/>
        <c:crosses val="autoZero"/>
        <c:crossBetween val="between"/>
      </c:valAx>
    </c:plotArea>
    <c:legend>
      <c:legendPos val="r"/>
      <c:layout/>
    </c:legend>
    <c:plotVisOnly val="1"/>
    <c:dispBlanksAs val="gap"/>
  </c:chart>
  <c:externalData r:id="rId2"/>
  <c:userShapes r:id="rId3"/>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US"/>
  <c:chart>
    <c:plotArea>
      <c:layout>
        <c:manualLayout>
          <c:layoutTarget val="inner"/>
          <c:xMode val="edge"/>
          <c:yMode val="edge"/>
          <c:x val="7.9002187226597534E-2"/>
          <c:y val="5.1400554097404488E-2"/>
          <c:w val="0.7212909011373575"/>
          <c:h val="0.75391586468360638"/>
        </c:manualLayout>
      </c:layout>
      <c:barChart>
        <c:barDir val="col"/>
        <c:grouping val="clustered"/>
        <c:ser>
          <c:idx val="0"/>
          <c:order val="0"/>
          <c:tx>
            <c:strRef>
              <c:f>EWCOMB!$AI$28</c:f>
              <c:strCache>
                <c:ptCount val="1"/>
                <c:pt idx="0">
                  <c:v>PWComb</c:v>
                </c:pt>
              </c:strCache>
            </c:strRef>
          </c:tx>
          <c:spPr>
            <a:blipFill>
              <a:blip xmlns:r="http://schemas.openxmlformats.org/officeDocument/2006/relationships" r:embed="rId1"/>
              <a:tile tx="0" ty="0" sx="100000" sy="100000" flip="none" algn="tl"/>
            </a:blipFill>
          </c:spPr>
          <c:cat>
            <c:numRef>
              <c:f>EWCOMB!$A$29:$A$37</c:f>
              <c:numCache>
                <c:formatCode>0%</c:formatCode>
                <c:ptCount val="9"/>
                <c:pt idx="0">
                  <c:v>0.1</c:v>
                </c:pt>
                <c:pt idx="1">
                  <c:v>0.2</c:v>
                </c:pt>
                <c:pt idx="2">
                  <c:v>0.30000000000000032</c:v>
                </c:pt>
                <c:pt idx="3">
                  <c:v>0.4</c:v>
                </c:pt>
                <c:pt idx="4">
                  <c:v>0.5</c:v>
                </c:pt>
                <c:pt idx="5">
                  <c:v>0.60000000000000064</c:v>
                </c:pt>
                <c:pt idx="6">
                  <c:v>0.70000000000000062</c:v>
                </c:pt>
                <c:pt idx="7">
                  <c:v>0.8</c:v>
                </c:pt>
                <c:pt idx="8">
                  <c:v>0.9</c:v>
                </c:pt>
              </c:numCache>
            </c:numRef>
          </c:cat>
          <c:val>
            <c:numRef>
              <c:f>EWCOMB!$AI$29:$AI$37</c:f>
              <c:numCache>
                <c:formatCode>General</c:formatCode>
                <c:ptCount val="9"/>
                <c:pt idx="0">
                  <c:v>0.14287330695231201</c:v>
                </c:pt>
                <c:pt idx="1">
                  <c:v>0.16605018226824106</c:v>
                </c:pt>
                <c:pt idx="2">
                  <c:v>0.18388363180886291</c:v>
                </c:pt>
                <c:pt idx="3">
                  <c:v>0.20168125319038671</c:v>
                </c:pt>
                <c:pt idx="4">
                  <c:v>0.22433827424553737</c:v>
                </c:pt>
                <c:pt idx="5">
                  <c:v>0.24806747896007991</c:v>
                </c:pt>
                <c:pt idx="6">
                  <c:v>0.28336112508942968</c:v>
                </c:pt>
                <c:pt idx="7">
                  <c:v>0.31871246827095823</c:v>
                </c:pt>
                <c:pt idx="8">
                  <c:v>0.39417971118515677</c:v>
                </c:pt>
              </c:numCache>
            </c:numRef>
          </c:val>
        </c:ser>
        <c:ser>
          <c:idx val="1"/>
          <c:order val="1"/>
          <c:tx>
            <c:strRef>
              <c:f>EWCOMB!$AJ$28</c:f>
              <c:strCache>
                <c:ptCount val="1"/>
                <c:pt idx="0">
                  <c:v>EWComb</c:v>
                </c:pt>
              </c:strCache>
            </c:strRef>
          </c:tx>
          <c:cat>
            <c:numRef>
              <c:f>EWCOMB!$A$29:$A$37</c:f>
              <c:numCache>
                <c:formatCode>0%</c:formatCode>
                <c:ptCount val="9"/>
                <c:pt idx="0">
                  <c:v>0.1</c:v>
                </c:pt>
                <c:pt idx="1">
                  <c:v>0.2</c:v>
                </c:pt>
                <c:pt idx="2">
                  <c:v>0.30000000000000032</c:v>
                </c:pt>
                <c:pt idx="3">
                  <c:v>0.4</c:v>
                </c:pt>
                <c:pt idx="4">
                  <c:v>0.5</c:v>
                </c:pt>
                <c:pt idx="5">
                  <c:v>0.60000000000000064</c:v>
                </c:pt>
                <c:pt idx="6">
                  <c:v>0.70000000000000062</c:v>
                </c:pt>
                <c:pt idx="7">
                  <c:v>0.8</c:v>
                </c:pt>
                <c:pt idx="8">
                  <c:v>0.9</c:v>
                </c:pt>
              </c:numCache>
            </c:numRef>
          </c:cat>
          <c:val>
            <c:numRef>
              <c:f>EWCOMB!$AJ$29:$AJ$37</c:f>
              <c:numCache>
                <c:formatCode>General</c:formatCode>
                <c:ptCount val="9"/>
                <c:pt idx="0">
                  <c:v>0.11724708637916921</c:v>
                </c:pt>
                <c:pt idx="1">
                  <c:v>0.13295403343982667</c:v>
                </c:pt>
                <c:pt idx="2">
                  <c:v>0.14609002067824339</c:v>
                </c:pt>
                <c:pt idx="3">
                  <c:v>0.15919381032585034</c:v>
                </c:pt>
                <c:pt idx="4">
                  <c:v>0.17517510135154038</c:v>
                </c:pt>
                <c:pt idx="5">
                  <c:v>0.18799427349164044</c:v>
                </c:pt>
                <c:pt idx="6">
                  <c:v>0.20316275420931512</c:v>
                </c:pt>
                <c:pt idx="7">
                  <c:v>0.21999867996692832</c:v>
                </c:pt>
                <c:pt idx="8">
                  <c:v>0.25583189620496238</c:v>
                </c:pt>
              </c:numCache>
            </c:numRef>
          </c:val>
        </c:ser>
        <c:axId val="115272704"/>
        <c:axId val="114660096"/>
      </c:barChart>
      <c:catAx>
        <c:axId val="115272704"/>
        <c:scaling>
          <c:orientation val="minMax"/>
        </c:scaling>
        <c:axPos val="b"/>
        <c:numFmt formatCode="0%" sourceLinked="1"/>
        <c:tickLblPos val="nextTo"/>
        <c:crossAx val="114660096"/>
        <c:crosses val="autoZero"/>
        <c:auto val="1"/>
        <c:lblAlgn val="ctr"/>
        <c:lblOffset val="100"/>
      </c:catAx>
      <c:valAx>
        <c:axId val="114660096"/>
        <c:scaling>
          <c:orientation val="minMax"/>
        </c:scaling>
        <c:axPos val="l"/>
        <c:majorGridlines/>
        <c:numFmt formatCode="General" sourceLinked="1"/>
        <c:tickLblPos val="nextTo"/>
        <c:crossAx val="115272704"/>
        <c:crosses val="autoZero"/>
        <c:crossBetween val="between"/>
      </c:valAx>
    </c:plotArea>
    <c:legend>
      <c:legendPos val="r"/>
      <c:layout/>
    </c:legend>
    <c:plotVisOnly val="1"/>
    <c:dispBlanksAs val="gap"/>
  </c:chart>
  <c:externalData r:id="rId2"/>
  <c:userShapes r:id="rId3"/>
</c:chartSpace>
</file>

<file path=ppt/drawings/drawing1.xml><?xml version="1.0" encoding="utf-8"?>
<c:userShapes xmlns:c="http://schemas.openxmlformats.org/drawingml/2006/chart">
  <cdr:relSizeAnchor xmlns:cdr="http://schemas.openxmlformats.org/drawingml/2006/chartDrawing">
    <cdr:from>
      <cdr:x>0.1</cdr:x>
      <cdr:y>0.88542</cdr:y>
    </cdr:from>
    <cdr:to>
      <cdr:x>0.88314</cdr:x>
      <cdr:y>0.97222</cdr:y>
    </cdr:to>
    <cdr:sp macro="" textlink="">
      <cdr:nvSpPr>
        <cdr:cNvPr id="2" name="TextBox 1"/>
        <cdr:cNvSpPr txBox="1"/>
      </cdr:nvSpPr>
      <cdr:spPr>
        <a:xfrm xmlns:a="http://schemas.openxmlformats.org/drawingml/2006/main">
          <a:off x="457200" y="2428875"/>
          <a:ext cx="3580517" cy="238122"/>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Calibri"/>
            </a:defRPr>
          </a:lvl1pPr>
          <a:lvl2pPr marL="457200" indent="0">
            <a:defRPr sz="1100">
              <a:latin typeface="Calibri"/>
            </a:defRPr>
          </a:lvl2pPr>
          <a:lvl3pPr marL="914400" indent="0">
            <a:defRPr sz="1100">
              <a:latin typeface="Calibri"/>
            </a:defRPr>
          </a:lvl3pPr>
          <a:lvl4pPr marL="1371600" indent="0">
            <a:defRPr sz="1100">
              <a:latin typeface="Calibri"/>
            </a:defRPr>
          </a:lvl4pPr>
          <a:lvl5pPr marL="1828800" indent="0">
            <a:defRPr sz="1100">
              <a:latin typeface="Calibri"/>
            </a:defRPr>
          </a:lvl5pPr>
          <a:lvl6pPr marL="2286000" indent="0">
            <a:defRPr sz="1100">
              <a:latin typeface="Calibri"/>
            </a:defRPr>
          </a:lvl6pPr>
          <a:lvl7pPr marL="2743200" indent="0">
            <a:defRPr sz="1100">
              <a:latin typeface="Calibri"/>
            </a:defRPr>
          </a:lvl7pPr>
          <a:lvl8pPr marL="3200400" indent="0">
            <a:defRPr sz="1100">
              <a:latin typeface="Calibri"/>
            </a:defRPr>
          </a:lvl8pPr>
          <a:lvl9pPr marL="3657600" indent="0">
            <a:defRPr sz="1100">
              <a:latin typeface="Calibri"/>
            </a:defRPr>
          </a:lvl9pPr>
        </a:lstStyle>
        <a:p xmlns:a="http://schemas.openxmlformats.org/drawingml/2006/main">
          <a:pPr algn="ctr"/>
          <a:r>
            <a:rPr lang="en-US" sz="1400"/>
            <a:t>% calibration variables in training set</a:t>
          </a:r>
        </a:p>
      </cdr:txBody>
    </cdr:sp>
  </cdr:relSizeAnchor>
</c:userShapes>
</file>

<file path=ppt/drawings/drawing2.xml><?xml version="1.0" encoding="utf-8"?>
<c:userShapes xmlns:c="http://schemas.openxmlformats.org/drawingml/2006/chart">
  <cdr:relSizeAnchor xmlns:cdr="http://schemas.openxmlformats.org/drawingml/2006/chartDrawing">
    <cdr:from>
      <cdr:x>0.08125</cdr:x>
      <cdr:y>0.90625</cdr:y>
    </cdr:from>
    <cdr:to>
      <cdr:x>0.86904</cdr:x>
      <cdr:y>0.99448</cdr:y>
    </cdr:to>
    <cdr:sp macro="" textlink="">
      <cdr:nvSpPr>
        <cdr:cNvPr id="2" name="TextBox 1"/>
        <cdr:cNvSpPr txBox="1"/>
      </cdr:nvSpPr>
      <cdr:spPr>
        <a:xfrm xmlns:a="http://schemas.openxmlformats.org/drawingml/2006/main">
          <a:off x="371475" y="2486025"/>
          <a:ext cx="3601757" cy="242033"/>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Calibri"/>
            </a:defRPr>
          </a:lvl1pPr>
          <a:lvl2pPr marL="457200" indent="0">
            <a:defRPr sz="1100">
              <a:latin typeface="Calibri"/>
            </a:defRPr>
          </a:lvl2pPr>
          <a:lvl3pPr marL="914400" indent="0">
            <a:defRPr sz="1100">
              <a:latin typeface="Calibri"/>
            </a:defRPr>
          </a:lvl3pPr>
          <a:lvl4pPr marL="1371600" indent="0">
            <a:defRPr sz="1100">
              <a:latin typeface="Calibri"/>
            </a:defRPr>
          </a:lvl4pPr>
          <a:lvl5pPr marL="1828800" indent="0">
            <a:defRPr sz="1100">
              <a:latin typeface="Calibri"/>
            </a:defRPr>
          </a:lvl5pPr>
          <a:lvl6pPr marL="2286000" indent="0">
            <a:defRPr sz="1100">
              <a:latin typeface="Calibri"/>
            </a:defRPr>
          </a:lvl6pPr>
          <a:lvl7pPr marL="2743200" indent="0">
            <a:defRPr sz="1100">
              <a:latin typeface="Calibri"/>
            </a:defRPr>
          </a:lvl7pPr>
          <a:lvl8pPr marL="3200400" indent="0">
            <a:defRPr sz="1100">
              <a:latin typeface="Calibri"/>
            </a:defRPr>
          </a:lvl8pPr>
          <a:lvl9pPr marL="3657600" indent="0">
            <a:defRPr sz="1100">
              <a:latin typeface="Calibri"/>
            </a:defRPr>
          </a:lvl9pPr>
        </a:lstStyle>
        <a:p xmlns:a="http://schemas.openxmlformats.org/drawingml/2006/main">
          <a:pPr algn="ctr"/>
          <a:r>
            <a:rPr lang="en-US" sz="1400"/>
            <a:t>% calibration variables in training set</a:t>
          </a:r>
        </a:p>
      </cdr:txBody>
    </cdr:sp>
  </cdr:relSizeAnchor>
</c:userShapes>
</file>

<file path=ppt/drawings/drawing3.xml><?xml version="1.0" encoding="utf-8"?>
<c:userShapes xmlns:c="http://schemas.openxmlformats.org/drawingml/2006/chart">
  <cdr:relSizeAnchor xmlns:cdr="http://schemas.openxmlformats.org/drawingml/2006/chartDrawing">
    <cdr:from>
      <cdr:x>0.10833</cdr:x>
      <cdr:y>0.88889</cdr:y>
    </cdr:from>
    <cdr:to>
      <cdr:x>0.89147</cdr:x>
      <cdr:y>0.97569</cdr:y>
    </cdr:to>
    <cdr:sp macro="" textlink="">
      <cdr:nvSpPr>
        <cdr:cNvPr id="2" name="TextBox 1"/>
        <cdr:cNvSpPr txBox="1"/>
      </cdr:nvSpPr>
      <cdr:spPr>
        <a:xfrm xmlns:a="http://schemas.openxmlformats.org/drawingml/2006/main">
          <a:off x="495300" y="2438415"/>
          <a:ext cx="3580516" cy="238110"/>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Calibri"/>
            </a:defRPr>
          </a:lvl1pPr>
          <a:lvl2pPr marL="457200" indent="0">
            <a:defRPr sz="1100">
              <a:latin typeface="Calibri"/>
            </a:defRPr>
          </a:lvl2pPr>
          <a:lvl3pPr marL="914400" indent="0">
            <a:defRPr sz="1100">
              <a:latin typeface="Calibri"/>
            </a:defRPr>
          </a:lvl3pPr>
          <a:lvl4pPr marL="1371600" indent="0">
            <a:defRPr sz="1100">
              <a:latin typeface="Calibri"/>
            </a:defRPr>
          </a:lvl4pPr>
          <a:lvl5pPr marL="1828800" indent="0">
            <a:defRPr sz="1100">
              <a:latin typeface="Calibri"/>
            </a:defRPr>
          </a:lvl5pPr>
          <a:lvl6pPr marL="2286000" indent="0">
            <a:defRPr sz="1100">
              <a:latin typeface="Calibri"/>
            </a:defRPr>
          </a:lvl6pPr>
          <a:lvl7pPr marL="2743200" indent="0">
            <a:defRPr sz="1100">
              <a:latin typeface="Calibri"/>
            </a:defRPr>
          </a:lvl7pPr>
          <a:lvl8pPr marL="3200400" indent="0">
            <a:defRPr sz="1100">
              <a:latin typeface="Calibri"/>
            </a:defRPr>
          </a:lvl8pPr>
          <a:lvl9pPr marL="3657600" indent="0">
            <a:defRPr sz="1100">
              <a:latin typeface="Calibri"/>
            </a:defRPr>
          </a:lvl9pPr>
        </a:lstStyle>
        <a:p xmlns:a="http://schemas.openxmlformats.org/drawingml/2006/main">
          <a:pPr algn="ctr"/>
          <a:r>
            <a:rPr lang="en-US" sz="1400"/>
            <a:t>% calibration variables in training set</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95E83C72-9270-447C-A322-0354A7BD2A77}" type="datetimeFigureOut">
              <a:rPr lang="en-US"/>
              <a:pPr>
                <a:defRPr/>
              </a:pPr>
              <a:t>5/25/2021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3078C470-E37E-4E4F-B2F0-4990F592C102}"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3078C470-E37E-4E4F-B2F0-4990F592C102}" type="slidenum">
              <a:rPr lang="en-US" smtClean="0"/>
              <a:pPr>
                <a:defRPr/>
              </a:pPr>
              <a:t>14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1D2A9A1-DC96-460B-9E49-885B1CC086E6}" type="slidenum">
              <a:rPr lang="en-US" smtClean="0"/>
              <a:pPr/>
              <a:t>28</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274CE27-CF99-40A8-899A-EA96F9636FE2}" type="slidenum">
              <a:rPr lang="en-US" smtClean="0"/>
              <a:pPr/>
              <a:t>30</a:t>
            </a:fld>
            <a:endParaRPr lang="en-US"/>
          </a:p>
        </p:txBody>
      </p:sp>
    </p:spTree>
    <p:extLst>
      <p:ext uri="{BB962C8B-B14F-4D97-AF65-F5344CB8AC3E}">
        <p14:creationId xmlns:p14="http://schemas.microsoft.com/office/powerpoint/2010/main" xmlns="" val="32043675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274CE27-CF99-40A8-899A-EA96F9636FE2}" type="slidenum">
              <a:rPr lang="en-US" smtClean="0"/>
              <a:pPr/>
              <a:t>31</a:t>
            </a:fld>
            <a:endParaRPr lang="en-US"/>
          </a:p>
        </p:txBody>
      </p:sp>
    </p:spTree>
    <p:extLst>
      <p:ext uri="{BB962C8B-B14F-4D97-AF65-F5344CB8AC3E}">
        <p14:creationId xmlns:p14="http://schemas.microsoft.com/office/powerpoint/2010/main" xmlns="" val="98506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274CE27-CF99-40A8-899A-EA96F9636FE2}" type="slidenum">
              <a:rPr lang="en-US" smtClean="0"/>
              <a:pPr/>
              <a:t>32</a:t>
            </a:fld>
            <a:endParaRPr lang="en-US"/>
          </a:p>
        </p:txBody>
      </p:sp>
    </p:spTree>
    <p:extLst>
      <p:ext uri="{BB962C8B-B14F-4D97-AF65-F5344CB8AC3E}">
        <p14:creationId xmlns="" xmlns:p14="http://schemas.microsoft.com/office/powerpoint/2010/main" val="3801551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5F8573B7-3C71-4CDC-AFF3-B370420B8124}" type="datetimeFigureOut">
              <a:rPr lang="en-US"/>
              <a:pPr>
                <a:defRPr/>
              </a:pPr>
              <a:t>5/25/2021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30F315B-E6B6-4FCA-898B-B2775D03DCF7}"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9ED7B9C-14C6-44F5-AE0C-AA6EB5353665}" type="datetimeFigureOut">
              <a:rPr lang="en-US"/>
              <a:pPr>
                <a:defRPr/>
              </a:pPr>
              <a:t>5/25/2021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F69E12C-CA6A-4C87-95F4-D920C3C2B01B}"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4D54F7D2-568C-4238-92A7-90DCFB51E0D3}" type="datetimeFigureOut">
              <a:rPr lang="en-US"/>
              <a:pPr>
                <a:defRPr/>
              </a:pPr>
              <a:t>5/25/2021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F7F9FA5-7519-426D-8C4A-10B86C79C4DB}"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4A151861-865E-48F3-9221-EACD62AE49F7}" type="datetimeFigureOut">
              <a:rPr lang="en-US"/>
              <a:pPr>
                <a:defRPr/>
              </a:pPr>
              <a:t>5/25/2021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C78A805-03F9-4F87-B463-B55C7D4DB49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C0EC3EC-179E-457F-8B25-C5C12459F9B8}" type="datetimeFigureOut">
              <a:rPr lang="en-US"/>
              <a:pPr>
                <a:defRPr/>
              </a:pPr>
              <a:t>5/25/2021</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8D0083F7-F376-4B57-BCFA-45B45C736E1E}"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814EEBE7-3203-4C9C-A40E-6A7D41A805CA}" type="datetimeFigureOut">
              <a:rPr lang="en-US"/>
              <a:pPr>
                <a:defRPr/>
              </a:pPr>
              <a:t>5/25/2021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701EF17E-C9B7-4418-A708-2D55B5426EA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8901CA6-C888-4C22-82DA-4CDFEDCB2F74}" type="datetimeFigureOut">
              <a:rPr lang="en-US"/>
              <a:pPr>
                <a:defRPr/>
              </a:pPr>
              <a:t>5/25/2021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5829B502-43EC-498B-B228-9F5245BC66ED}"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32987F0C-A1CF-4D76-A5FD-32093553A48A}" type="datetimeFigureOut">
              <a:rPr lang="en-US"/>
              <a:pPr>
                <a:defRPr/>
              </a:pPr>
              <a:t>5/25/2021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33642D1-5938-42DB-859E-0428E3DE0713}"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84AB56E-4D97-4CCA-88C9-D6B60A531585}" type="datetimeFigureOut">
              <a:rPr lang="en-US"/>
              <a:pPr>
                <a:defRPr/>
              </a:pPr>
              <a:t>5/25/2021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B8205C-2EE1-4AF6-ABE4-A93312027458}"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E52213E-AB7D-46ED-AE5F-B214F22E50E2}" type="datetimeFigureOut">
              <a:rPr lang="en-US"/>
              <a:pPr>
                <a:defRPr/>
              </a:pPr>
              <a:t>5/25/2021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FDEEFC-F7FB-48F2-A827-98802183B427}"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4F35B7BA-57CE-4973-86D7-68A10FF43816}" type="datetimeFigureOut">
              <a:rPr lang="en-US"/>
              <a:pPr>
                <a:defRPr/>
              </a:pPr>
              <a:t>5/25/2021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D748AEA-D02F-4B58-A7C2-7EDF2417D02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E4AB8FD6-87FA-4BDF-ABD1-4D0178AFF8EB}" type="datetimeFigureOut">
              <a:rPr lang="en-US"/>
              <a:pPr>
                <a:defRPr/>
              </a:pPr>
              <a:t>5/25/2021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4EC56457-B272-4017-B3AB-C0C0BD20D9B0}"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9.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0.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1.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12.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13.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14.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15.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16.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17.xml.rels><?xml version="1.0" encoding="UTF-8" standalone="yes"?>
<Relationships xmlns="http://schemas.openxmlformats.org/package/2006/relationships"><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image" Target="../media/image91.png"/><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18.xml.rels><?xml version="1.0" encoding="UTF-8" standalone="yes"?>
<Relationships xmlns="http://schemas.openxmlformats.org/package/2006/relationships"><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image" Target="../media/image97.png"/><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19.xml.rels><?xml version="1.0" encoding="UTF-8" standalone="yes"?>
<Relationships xmlns="http://schemas.openxmlformats.org/package/2006/relationships"><Relationship Id="rId3" Type="http://schemas.openxmlformats.org/officeDocument/2006/relationships/image" Target="../media/image104.jpeg"/><Relationship Id="rId7" Type="http://schemas.openxmlformats.org/officeDocument/2006/relationships/image" Target="../media/image108.jpeg"/><Relationship Id="rId2" Type="http://schemas.openxmlformats.org/officeDocument/2006/relationships/image" Target="../media/image103.jpeg"/><Relationship Id="rId1" Type="http://schemas.openxmlformats.org/officeDocument/2006/relationships/slideLayout" Target="../slideLayouts/slideLayout2.xml"/><Relationship Id="rId6" Type="http://schemas.openxmlformats.org/officeDocument/2006/relationships/image" Target="../media/image107.jpeg"/><Relationship Id="rId5" Type="http://schemas.openxmlformats.org/officeDocument/2006/relationships/image" Target="../media/image106.jpeg"/><Relationship Id="rId4" Type="http://schemas.openxmlformats.org/officeDocument/2006/relationships/image" Target="../media/image105.jpeg"/></Relationships>
</file>

<file path=ppt/slides/_rels/slide20.xml.rels><?xml version="1.0" encoding="UTF-8" standalone="yes"?>
<Relationships xmlns="http://schemas.openxmlformats.org/package/2006/relationships"><Relationship Id="rId3" Type="http://schemas.openxmlformats.org/officeDocument/2006/relationships/image" Target="../media/image110.jpeg"/><Relationship Id="rId7" Type="http://schemas.openxmlformats.org/officeDocument/2006/relationships/image" Target="../media/image114.jpeg"/><Relationship Id="rId2" Type="http://schemas.openxmlformats.org/officeDocument/2006/relationships/image" Target="../media/image109.jpeg"/><Relationship Id="rId1" Type="http://schemas.openxmlformats.org/officeDocument/2006/relationships/slideLayout" Target="../slideLayouts/slideLayout2.xml"/><Relationship Id="rId6" Type="http://schemas.openxmlformats.org/officeDocument/2006/relationships/image" Target="../media/image113.jpeg"/><Relationship Id="rId5" Type="http://schemas.openxmlformats.org/officeDocument/2006/relationships/image" Target="../media/image112.jpeg"/><Relationship Id="rId4" Type="http://schemas.openxmlformats.org/officeDocument/2006/relationships/image" Target="../media/image111.jpeg"/></Relationships>
</file>

<file path=ppt/slides/_rels/slide21.xml.rels><?xml version="1.0" encoding="UTF-8" standalone="yes"?>
<Relationships xmlns="http://schemas.openxmlformats.org/package/2006/relationships"><Relationship Id="rId3" Type="http://schemas.openxmlformats.org/officeDocument/2006/relationships/image" Target="../media/image116.jpeg"/><Relationship Id="rId7" Type="http://schemas.openxmlformats.org/officeDocument/2006/relationships/image" Target="../media/image119.jpeg"/><Relationship Id="rId2" Type="http://schemas.openxmlformats.org/officeDocument/2006/relationships/image" Target="../media/image115.jpeg"/><Relationship Id="rId1" Type="http://schemas.openxmlformats.org/officeDocument/2006/relationships/slideLayout" Target="../slideLayouts/slideLayout2.xml"/><Relationship Id="rId6" Type="http://schemas.openxmlformats.org/officeDocument/2006/relationships/image" Target="../media/image114.jpeg"/><Relationship Id="rId5" Type="http://schemas.openxmlformats.org/officeDocument/2006/relationships/image" Target="../media/image118.jpeg"/><Relationship Id="rId4" Type="http://schemas.openxmlformats.org/officeDocument/2006/relationships/image" Target="../media/image117.jpeg"/></Relationships>
</file>

<file path=ppt/slides/_rels/slide22.xml.rels><?xml version="1.0" encoding="UTF-8" standalone="yes"?>
<Relationships xmlns="http://schemas.openxmlformats.org/package/2006/relationships"><Relationship Id="rId3" Type="http://schemas.openxmlformats.org/officeDocument/2006/relationships/image" Target="../media/image121.jpeg"/><Relationship Id="rId7" Type="http://schemas.openxmlformats.org/officeDocument/2006/relationships/image" Target="../media/image125.jpeg"/><Relationship Id="rId2" Type="http://schemas.openxmlformats.org/officeDocument/2006/relationships/image" Target="../media/image120.jpeg"/><Relationship Id="rId1" Type="http://schemas.openxmlformats.org/officeDocument/2006/relationships/slideLayout" Target="../slideLayouts/slideLayout2.xml"/><Relationship Id="rId6" Type="http://schemas.openxmlformats.org/officeDocument/2006/relationships/image" Target="../media/image124.jpeg"/><Relationship Id="rId5" Type="http://schemas.openxmlformats.org/officeDocument/2006/relationships/image" Target="../media/image123.jpeg"/><Relationship Id="rId4" Type="http://schemas.openxmlformats.org/officeDocument/2006/relationships/image" Target="../media/image122.jpeg"/></Relationships>
</file>

<file path=ppt/slides/_rels/slide23.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image" Target="../media/image126.jpeg"/><Relationship Id="rId1" Type="http://schemas.openxmlformats.org/officeDocument/2006/relationships/slideLayout" Target="../slideLayouts/slideLayout2.xml"/><Relationship Id="rId6" Type="http://schemas.openxmlformats.org/officeDocument/2006/relationships/image" Target="../media/image130.jpeg"/><Relationship Id="rId5" Type="http://schemas.openxmlformats.org/officeDocument/2006/relationships/image" Target="../media/image129.jpeg"/><Relationship Id="rId4" Type="http://schemas.openxmlformats.org/officeDocument/2006/relationships/image" Target="../media/image128.jpeg"/></Relationships>
</file>

<file path=ppt/slides/_rels/slide24.xml.rels><?xml version="1.0" encoding="UTF-8" standalone="yes"?>
<Relationships xmlns="http://schemas.openxmlformats.org/package/2006/relationships"><Relationship Id="rId3" Type="http://schemas.openxmlformats.org/officeDocument/2006/relationships/image" Target="../media/image132.jpeg"/><Relationship Id="rId7" Type="http://schemas.openxmlformats.org/officeDocument/2006/relationships/image" Target="../media/image136.jpeg"/><Relationship Id="rId2" Type="http://schemas.openxmlformats.org/officeDocument/2006/relationships/image" Target="../media/image131.jpeg"/><Relationship Id="rId1" Type="http://schemas.openxmlformats.org/officeDocument/2006/relationships/slideLayout" Target="../slideLayouts/slideLayout2.xml"/><Relationship Id="rId6" Type="http://schemas.openxmlformats.org/officeDocument/2006/relationships/image" Target="../media/image135.jpeg"/><Relationship Id="rId5" Type="http://schemas.openxmlformats.org/officeDocument/2006/relationships/image" Target="../media/image134.jpeg"/><Relationship Id="rId4" Type="http://schemas.openxmlformats.org/officeDocument/2006/relationships/image" Target="../media/image133.jpeg"/></Relationships>
</file>

<file path=ppt/slides/_rels/slide25.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image" Target="../media/image137.jpeg"/><Relationship Id="rId1" Type="http://schemas.openxmlformats.org/officeDocument/2006/relationships/slideLayout" Target="../slideLayouts/slideLayout2.xml"/><Relationship Id="rId6" Type="http://schemas.openxmlformats.org/officeDocument/2006/relationships/hyperlink" Target="https://www.sciencedirect.com/science/article/pii/S0951832017302090" TargetMode="External"/><Relationship Id="rId5" Type="http://schemas.openxmlformats.org/officeDocument/2006/relationships/hyperlink" Target="https://www.sciencedirect.com/science/article/pii/S0169207020300959?via=ihub" TargetMode="External"/><Relationship Id="rId4" Type="http://schemas.openxmlformats.org/officeDocument/2006/relationships/image" Target="../media/image139.jpeg"/></Relationships>
</file>

<file path=ppt/slides/_rels/slide26.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sciencedirect.com/science/article/pii/S0951832017302090" TargetMode="External"/><Relationship Id="rId2" Type="http://schemas.openxmlformats.org/officeDocument/2006/relationships/hyperlink" Target="https://www.sciencedirect.com/science/article/abs/pii/S0951832013002251" TargetMode="External"/><Relationship Id="rId1" Type="http://schemas.openxmlformats.org/officeDocument/2006/relationships/slideLayout" Target="../slideLayouts/slideLayout2.xml"/><Relationship Id="rId5" Type="http://schemas.openxmlformats.org/officeDocument/2006/relationships/hyperlink" Target="https://www.sciencedirect.com/science/article/pii/S0169207020300959?via=ihub" TargetMode="External"/><Relationship Id="rId4" Type="http://schemas.openxmlformats.org/officeDocument/2006/relationships/hyperlink" Target="https://www.journals.uchicago.edu/action/doSearch?AllField=cooke,r&amp;SeriesKey=reep"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image" Target="../media/image14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www.sciencedirect.com/science/article/pii/S0951832017302090"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academic.oup.com/reep/article/12/1/113/4835830" TargetMode="External"/><Relationship Id="rId2" Type="http://schemas.openxmlformats.org/officeDocument/2006/relationships/hyperlink" Target="https://doi.org/10.1093/reep/rex022" TargetMode="External"/><Relationship Id="rId1" Type="http://schemas.openxmlformats.org/officeDocument/2006/relationships/slideLayout" Target="../slideLayouts/slideLayout2.xml"/><Relationship Id="rId6" Type="http://schemas.openxmlformats.org/officeDocument/2006/relationships/hyperlink" Target="https://doi.org/10.1016/j.ijforecast.2020.06.007" TargetMode="External"/><Relationship Id="rId5" Type="http://schemas.openxmlformats.org/officeDocument/2006/relationships/hyperlink" Target="http://dx.doi.org/10.1016/j.ress.2017.02.003" TargetMode="External"/><Relationship Id="rId4" Type="http://schemas.openxmlformats.org/officeDocument/2006/relationships/hyperlink" Target="http://www.sciencedirect.com/science/journal/09518320/163/supp/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0" y="2743200"/>
            <a:ext cx="4419600" cy="2052638"/>
          </a:xfrm>
          <a:prstGeom prst="rect">
            <a:avLst/>
          </a:prstGeom>
          <a:noFill/>
          <a:ln w="9525">
            <a:noFill/>
            <a:miter lim="800000"/>
            <a:headEnd/>
            <a:tailEnd/>
          </a:ln>
        </p:spPr>
      </p:pic>
      <p:sp>
        <p:nvSpPr>
          <p:cNvPr id="2" name="Title 1"/>
          <p:cNvSpPr>
            <a:spLocks noGrp="1"/>
          </p:cNvSpPr>
          <p:nvPr>
            <p:ph type="title"/>
          </p:nvPr>
        </p:nvSpPr>
        <p:spPr>
          <a:xfrm>
            <a:off x="457200" y="274638"/>
            <a:ext cx="8229600" cy="411162"/>
          </a:xfrm>
        </p:spPr>
        <p:txBody>
          <a:bodyPr/>
          <a:lstStyle/>
          <a:p>
            <a:pPr algn="l"/>
            <a:r>
              <a:rPr lang="en-US" sz="2000" dirty="0" smtClean="0"/>
              <a:t>1.Raveem </a:t>
            </a:r>
            <a:r>
              <a:rPr lang="en-US" sz="2000" dirty="0" err="1" smtClean="0"/>
              <a:t>GeoPolitRisk</a:t>
            </a:r>
            <a:r>
              <a:rPr lang="en-US" sz="2000" dirty="0" smtClean="0"/>
              <a:t>                                                                   </a:t>
            </a:r>
            <a:endParaRPr lang="en-US" sz="2000" dirty="0"/>
          </a:p>
        </p:txBody>
      </p:sp>
      <p:pic>
        <p:nvPicPr>
          <p:cNvPr id="7" name="Content Placeholder 6"/>
          <p:cNvPicPr>
            <a:picLocks noGrp="1"/>
          </p:cNvPicPr>
          <p:nvPr>
            <p:ph idx="1"/>
          </p:nvPr>
        </p:nvPicPr>
        <p:blipFill>
          <a:blip r:embed="rId3" cstate="print"/>
          <a:stretch>
            <a:fillRect/>
          </a:stretch>
        </p:blipFill>
        <p:spPr>
          <a:xfrm>
            <a:off x="0" y="4724400"/>
            <a:ext cx="4419600" cy="2133600"/>
          </a:xfrm>
          <a:prstGeom prst="rect">
            <a:avLst/>
          </a:prstGeom>
        </p:spPr>
      </p:pic>
      <p:pic>
        <p:nvPicPr>
          <p:cNvPr id="13315" name="Picture 3"/>
          <p:cNvPicPr>
            <a:picLocks noChangeAspect="1" noChangeArrowheads="1"/>
          </p:cNvPicPr>
          <p:nvPr/>
        </p:nvPicPr>
        <p:blipFill>
          <a:blip r:embed="rId4" cstate="print"/>
          <a:srcRect/>
          <a:stretch>
            <a:fillRect/>
          </a:stretch>
        </p:blipFill>
        <p:spPr bwMode="auto">
          <a:xfrm>
            <a:off x="1" y="609601"/>
            <a:ext cx="4401996" cy="2133599"/>
          </a:xfrm>
          <a:prstGeom prst="rect">
            <a:avLst/>
          </a:prstGeom>
          <a:noFill/>
          <a:ln w="9525">
            <a:noFill/>
            <a:miter lim="800000"/>
            <a:headEnd/>
            <a:tailEnd/>
          </a:ln>
        </p:spPr>
      </p:pic>
      <p:sp>
        <p:nvSpPr>
          <p:cNvPr id="8" name="Left Arrow Callout 7"/>
          <p:cNvSpPr/>
          <p:nvPr/>
        </p:nvSpPr>
        <p:spPr>
          <a:xfrm>
            <a:off x="4343400" y="609600"/>
            <a:ext cx="4800600" cy="1981200"/>
          </a:xfrm>
          <a:prstGeom prst="leftArrowCallout">
            <a:avLst>
              <a:gd name="adj1" fmla="val 25000"/>
              <a:gd name="adj2" fmla="val 25000"/>
              <a:gd name="adj3" fmla="val 25000"/>
              <a:gd name="adj4" fmla="val 84755"/>
            </a:avLst>
          </a:prstGeom>
          <a:solidFill>
            <a:srgbClr val="FFFF00">
              <a:alpha val="26000"/>
            </a:srgbClr>
          </a:solidFill>
          <a:ln w="635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b="1" dirty="0" smtClean="0">
                <a:solidFill>
                  <a:schemeClr val="tx1"/>
                </a:solidFill>
              </a:rPr>
              <a:t>Out-of-Sample Combined Score on Test Set</a:t>
            </a:r>
          </a:p>
          <a:p>
            <a:pPr algn="ctr"/>
            <a:endParaRPr lang="en-US" sz="2400" b="1" dirty="0" smtClean="0">
              <a:solidFill>
                <a:schemeClr val="tx1"/>
              </a:solidFill>
            </a:endParaRPr>
          </a:p>
          <a:p>
            <a:pPr algn="ctr"/>
            <a:r>
              <a:rPr lang="en-US" sz="2400" b="1" dirty="0" smtClean="0">
                <a:solidFill>
                  <a:schemeClr val="tx1"/>
                </a:solidFill>
              </a:rPr>
              <a:t>As function of Training Set Size</a:t>
            </a:r>
          </a:p>
          <a:p>
            <a:pPr algn="ctr"/>
            <a:r>
              <a:rPr lang="en-US" b="1" dirty="0" smtClean="0">
                <a:solidFill>
                  <a:schemeClr val="tx1"/>
                </a:solidFill>
              </a:rPr>
              <a:t>(averaged over all  sets of given size)</a:t>
            </a:r>
            <a:r>
              <a:rPr lang="en-US" sz="2400" b="1" dirty="0" smtClean="0">
                <a:solidFill>
                  <a:schemeClr val="tx1"/>
                </a:solidFill>
              </a:rPr>
              <a:t> </a:t>
            </a:r>
            <a:endParaRPr lang="en-US" sz="2400" b="1" dirty="0">
              <a:solidFill>
                <a:schemeClr val="tx1"/>
              </a:solidFill>
            </a:endParaRPr>
          </a:p>
        </p:txBody>
      </p:sp>
      <p:sp>
        <p:nvSpPr>
          <p:cNvPr id="9" name="Left Arrow Callout 8"/>
          <p:cNvSpPr/>
          <p:nvPr/>
        </p:nvSpPr>
        <p:spPr>
          <a:xfrm>
            <a:off x="4343400" y="2743200"/>
            <a:ext cx="4800600" cy="1981200"/>
          </a:xfrm>
          <a:prstGeom prst="leftArrowCallout">
            <a:avLst>
              <a:gd name="adj1" fmla="val 25000"/>
              <a:gd name="adj2" fmla="val 25000"/>
              <a:gd name="adj3" fmla="val 25000"/>
              <a:gd name="adj4" fmla="val 84755"/>
            </a:avLst>
          </a:prstGeom>
          <a:solidFill>
            <a:srgbClr val="FFFF00">
              <a:alpha val="26000"/>
            </a:srgbClr>
          </a:solidFill>
          <a:ln w="635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b="1" dirty="0" smtClean="0">
                <a:solidFill>
                  <a:schemeClr val="tx1"/>
                </a:solidFill>
              </a:rPr>
              <a:t>Out-of-Sample Statistical Accuracy  Score on Test Set</a:t>
            </a:r>
          </a:p>
          <a:p>
            <a:pPr algn="ctr"/>
            <a:endParaRPr lang="en-US" sz="2400" b="1" dirty="0" smtClean="0">
              <a:solidFill>
                <a:schemeClr val="tx1"/>
              </a:solidFill>
            </a:endParaRPr>
          </a:p>
          <a:p>
            <a:pPr algn="ctr"/>
            <a:r>
              <a:rPr lang="en-US" sz="2400" b="1" dirty="0" smtClean="0">
                <a:solidFill>
                  <a:schemeClr val="tx1"/>
                </a:solidFill>
              </a:rPr>
              <a:t>As function of Training Set Size</a:t>
            </a:r>
          </a:p>
          <a:p>
            <a:pPr algn="ctr"/>
            <a:r>
              <a:rPr lang="en-US" b="1" dirty="0" smtClean="0">
                <a:solidFill>
                  <a:schemeClr val="tx1"/>
                </a:solidFill>
              </a:rPr>
              <a:t>(averaged over all  sets of given size)</a:t>
            </a:r>
            <a:r>
              <a:rPr lang="en-US" sz="2400" b="1" dirty="0" smtClean="0">
                <a:solidFill>
                  <a:schemeClr val="tx1"/>
                </a:solidFill>
              </a:rPr>
              <a:t> </a:t>
            </a:r>
            <a:endParaRPr lang="en-US" sz="2400" b="1" dirty="0">
              <a:solidFill>
                <a:schemeClr val="tx1"/>
              </a:solidFill>
            </a:endParaRPr>
          </a:p>
        </p:txBody>
      </p:sp>
      <p:sp>
        <p:nvSpPr>
          <p:cNvPr id="10" name="Left Arrow Callout 9"/>
          <p:cNvSpPr/>
          <p:nvPr/>
        </p:nvSpPr>
        <p:spPr>
          <a:xfrm>
            <a:off x="4343400" y="4876800"/>
            <a:ext cx="4800600" cy="1981200"/>
          </a:xfrm>
          <a:prstGeom prst="leftArrowCallout">
            <a:avLst>
              <a:gd name="adj1" fmla="val 25000"/>
              <a:gd name="adj2" fmla="val 25000"/>
              <a:gd name="adj3" fmla="val 25000"/>
              <a:gd name="adj4" fmla="val 84755"/>
            </a:avLst>
          </a:prstGeom>
          <a:solidFill>
            <a:srgbClr val="FFFF00">
              <a:alpha val="26000"/>
            </a:srgbClr>
          </a:solidFill>
          <a:ln w="635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b="1" dirty="0" err="1" smtClean="0">
                <a:solidFill>
                  <a:schemeClr val="tx1"/>
                </a:solidFill>
              </a:rPr>
              <a:t>Wgt’d</a:t>
            </a:r>
            <a:r>
              <a:rPr lang="en-US" sz="2400" b="1" dirty="0" smtClean="0">
                <a:solidFill>
                  <a:schemeClr val="tx1"/>
                </a:solidFill>
              </a:rPr>
              <a:t> Variance of Expert </a:t>
            </a:r>
            <a:r>
              <a:rPr lang="en-US" sz="2400" b="1" dirty="0" err="1" smtClean="0">
                <a:solidFill>
                  <a:schemeClr val="tx1"/>
                </a:solidFill>
              </a:rPr>
              <a:t>norml’zd</a:t>
            </a:r>
            <a:r>
              <a:rPr lang="en-US" sz="2400" b="1" dirty="0" smtClean="0">
                <a:solidFill>
                  <a:schemeClr val="tx1"/>
                </a:solidFill>
              </a:rPr>
              <a:t> weights (in-sample)</a:t>
            </a:r>
          </a:p>
          <a:p>
            <a:pPr algn="ctr"/>
            <a:endParaRPr lang="en-US" sz="2400" b="1" dirty="0" smtClean="0">
              <a:solidFill>
                <a:schemeClr val="tx1"/>
              </a:solidFill>
            </a:endParaRPr>
          </a:p>
          <a:p>
            <a:pPr algn="ctr"/>
            <a:r>
              <a:rPr lang="en-US" sz="2400" b="1" dirty="0" smtClean="0">
                <a:solidFill>
                  <a:schemeClr val="tx1"/>
                </a:solidFill>
              </a:rPr>
              <a:t>Ave Variance of PW combined score (out-of-sample)</a:t>
            </a:r>
            <a:endParaRPr lang="en-US" sz="24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411162"/>
          </a:xfrm>
        </p:spPr>
        <p:txBody>
          <a:bodyPr anchor="t"/>
          <a:lstStyle/>
          <a:p>
            <a:pPr algn="l"/>
            <a:r>
              <a:rPr lang="en-US" sz="2000" dirty="0" smtClean="0"/>
              <a:t>2. Arkansas                                                         3. Arsenic  PW = BE</a:t>
            </a:r>
            <a:endParaRPr lang="en-US" sz="2000" dirty="0"/>
          </a:p>
        </p:txBody>
      </p:sp>
      <p:pic>
        <p:nvPicPr>
          <p:cNvPr id="2050" name="Picture 2"/>
          <p:cNvPicPr>
            <a:picLocks noChangeAspect="1" noChangeArrowheads="1"/>
          </p:cNvPicPr>
          <p:nvPr/>
        </p:nvPicPr>
        <p:blipFill>
          <a:blip r:embed="rId2" cstate="print"/>
          <a:srcRect/>
          <a:stretch>
            <a:fillRect/>
          </a:stretch>
        </p:blipFill>
        <p:spPr bwMode="auto">
          <a:xfrm>
            <a:off x="1" y="4724400"/>
            <a:ext cx="4495800" cy="2133600"/>
          </a:xfrm>
          <a:prstGeom prst="rect">
            <a:avLst/>
          </a:prstGeom>
          <a:noFill/>
          <a:ln w="9525">
            <a:noFill/>
            <a:miter lim="800000"/>
            <a:headEnd/>
            <a:tailEnd/>
          </a:ln>
        </p:spPr>
      </p:pic>
      <p:pic>
        <p:nvPicPr>
          <p:cNvPr id="7170" name="Picture 2"/>
          <p:cNvPicPr>
            <a:picLocks noChangeAspect="1" noChangeArrowheads="1"/>
          </p:cNvPicPr>
          <p:nvPr/>
        </p:nvPicPr>
        <p:blipFill>
          <a:blip r:embed="rId3" cstate="print"/>
          <a:srcRect/>
          <a:stretch>
            <a:fillRect/>
          </a:stretch>
        </p:blipFill>
        <p:spPr bwMode="auto">
          <a:xfrm>
            <a:off x="4525052" y="4724400"/>
            <a:ext cx="4618948" cy="2133600"/>
          </a:xfrm>
          <a:prstGeom prst="rect">
            <a:avLst/>
          </a:prstGeom>
          <a:noFill/>
          <a:ln w="9525">
            <a:noFill/>
            <a:miter lim="800000"/>
            <a:headEnd/>
            <a:tailEnd/>
          </a:ln>
        </p:spPr>
      </p:pic>
      <p:pic>
        <p:nvPicPr>
          <p:cNvPr id="1026" name="Picture 2"/>
          <p:cNvPicPr>
            <a:picLocks noChangeAspect="1" noChangeArrowheads="1"/>
          </p:cNvPicPr>
          <p:nvPr/>
        </p:nvPicPr>
        <p:blipFill>
          <a:blip r:embed="rId4" cstate="print"/>
          <a:srcRect/>
          <a:stretch>
            <a:fillRect/>
          </a:stretch>
        </p:blipFill>
        <p:spPr bwMode="auto">
          <a:xfrm>
            <a:off x="0" y="2667000"/>
            <a:ext cx="4419600" cy="2057400"/>
          </a:xfrm>
          <a:prstGeom prst="rect">
            <a:avLst/>
          </a:prstGeom>
          <a:noFill/>
          <a:ln w="9525">
            <a:noFill/>
            <a:miter lim="800000"/>
            <a:headEnd/>
            <a:tailEnd/>
          </a:ln>
        </p:spPr>
      </p:pic>
      <p:pic>
        <p:nvPicPr>
          <p:cNvPr id="1027" name="Picture 3"/>
          <p:cNvPicPr>
            <a:picLocks noGrp="1" noChangeAspect="1" noChangeArrowheads="1"/>
          </p:cNvPicPr>
          <p:nvPr>
            <p:ph idx="1"/>
          </p:nvPr>
        </p:nvPicPr>
        <p:blipFill>
          <a:blip r:embed="rId5" cstate="print"/>
          <a:srcRect/>
          <a:stretch>
            <a:fillRect/>
          </a:stretch>
        </p:blipFill>
        <p:spPr bwMode="auto">
          <a:xfrm>
            <a:off x="0" y="381001"/>
            <a:ext cx="4438453" cy="2286000"/>
          </a:xfrm>
          <a:prstGeom prst="rect">
            <a:avLst/>
          </a:prstGeom>
          <a:noFill/>
          <a:ln w="9525">
            <a:noFill/>
            <a:miter lim="800000"/>
            <a:headEnd/>
            <a:tailEnd/>
          </a:ln>
        </p:spPr>
      </p:pic>
      <p:pic>
        <p:nvPicPr>
          <p:cNvPr id="1028" name="Picture 4"/>
          <p:cNvPicPr>
            <a:picLocks noChangeAspect="1" noChangeArrowheads="1"/>
          </p:cNvPicPr>
          <p:nvPr/>
        </p:nvPicPr>
        <p:blipFill>
          <a:blip r:embed="rId6" cstate="print"/>
          <a:srcRect/>
          <a:stretch>
            <a:fillRect/>
          </a:stretch>
        </p:blipFill>
        <p:spPr bwMode="auto">
          <a:xfrm>
            <a:off x="4572000" y="381001"/>
            <a:ext cx="4448175" cy="2286000"/>
          </a:xfrm>
          <a:prstGeom prst="rect">
            <a:avLst/>
          </a:prstGeom>
          <a:noFill/>
          <a:ln w="9525">
            <a:noFill/>
            <a:miter lim="800000"/>
            <a:headEnd/>
            <a:tailEnd/>
          </a:ln>
        </p:spPr>
      </p:pic>
      <p:pic>
        <p:nvPicPr>
          <p:cNvPr id="1029" name="Picture 5"/>
          <p:cNvPicPr>
            <a:picLocks noChangeAspect="1" noChangeArrowheads="1"/>
          </p:cNvPicPr>
          <p:nvPr/>
        </p:nvPicPr>
        <p:blipFill>
          <a:blip r:embed="rId7" cstate="print"/>
          <a:srcRect/>
          <a:stretch>
            <a:fillRect/>
          </a:stretch>
        </p:blipFill>
        <p:spPr bwMode="auto">
          <a:xfrm>
            <a:off x="4572000" y="2667000"/>
            <a:ext cx="4572000" cy="2065919"/>
          </a:xfrm>
          <a:prstGeom prst="rect">
            <a:avLst/>
          </a:prstGeom>
          <a:noFill/>
          <a:ln w="9525">
            <a:noFill/>
            <a:miter lim="800000"/>
            <a:headEnd/>
            <a:tailEnd/>
          </a:ln>
        </p:spPr>
      </p:pic>
      <p:sp>
        <p:nvSpPr>
          <p:cNvPr id="10" name="Rounded Rectangle 9"/>
          <p:cNvSpPr/>
          <p:nvPr/>
        </p:nvSpPr>
        <p:spPr>
          <a:xfrm>
            <a:off x="4800600" y="0"/>
            <a:ext cx="2438400" cy="457200"/>
          </a:xfrm>
          <a:prstGeom prst="roundRect">
            <a:avLst/>
          </a:prstGeom>
          <a:solidFill>
            <a:schemeClr val="accent6">
              <a:lumMod val="60000"/>
              <a:lumOff val="40000"/>
              <a:alpha val="20000"/>
            </a:schemeClr>
          </a:solidFill>
          <a:ln w="508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pPr algn="l"/>
            <a:r>
              <a:rPr lang="en-US" sz="2000" dirty="0" smtClean="0"/>
              <a:t>4. ATCEP                                                                    5. </a:t>
            </a:r>
            <a:r>
              <a:rPr lang="en-US" sz="2000" dirty="0" err="1" smtClean="0"/>
              <a:t>Biol</a:t>
            </a:r>
            <a:r>
              <a:rPr lang="en-US" sz="2000" dirty="0" smtClean="0"/>
              <a:t> agents</a:t>
            </a:r>
            <a:endParaRPr lang="en-US" sz="2000" dirty="0"/>
          </a:p>
        </p:txBody>
      </p:sp>
      <p:pic>
        <p:nvPicPr>
          <p:cNvPr id="3075" name="Picture 3"/>
          <p:cNvPicPr>
            <a:picLocks noChangeAspect="1" noChangeArrowheads="1"/>
          </p:cNvPicPr>
          <p:nvPr/>
        </p:nvPicPr>
        <p:blipFill>
          <a:blip r:embed="rId2" cstate="print"/>
          <a:srcRect/>
          <a:stretch>
            <a:fillRect/>
          </a:stretch>
        </p:blipFill>
        <p:spPr bwMode="auto">
          <a:xfrm>
            <a:off x="0" y="4648200"/>
            <a:ext cx="4207329" cy="2209800"/>
          </a:xfrm>
          <a:prstGeom prst="rect">
            <a:avLst/>
          </a:prstGeom>
          <a:noFill/>
          <a:ln w="9525">
            <a:noFill/>
            <a:miter lim="800000"/>
            <a:headEnd/>
            <a:tailEnd/>
          </a:ln>
        </p:spPr>
      </p:pic>
      <p:pic>
        <p:nvPicPr>
          <p:cNvPr id="3077" name="Picture 5"/>
          <p:cNvPicPr>
            <a:picLocks noChangeAspect="1" noChangeArrowheads="1"/>
          </p:cNvPicPr>
          <p:nvPr/>
        </p:nvPicPr>
        <p:blipFill>
          <a:blip r:embed="rId3" cstate="print"/>
          <a:srcRect/>
          <a:stretch>
            <a:fillRect/>
          </a:stretch>
        </p:blipFill>
        <p:spPr bwMode="auto">
          <a:xfrm>
            <a:off x="4931135" y="4724400"/>
            <a:ext cx="4212865" cy="2133600"/>
          </a:xfrm>
          <a:prstGeom prst="rect">
            <a:avLst/>
          </a:prstGeom>
          <a:noFill/>
          <a:ln w="9525">
            <a:noFill/>
            <a:miter lim="800000"/>
            <a:headEnd/>
            <a:tailEnd/>
          </a:ln>
        </p:spPr>
      </p:pic>
      <p:pic>
        <p:nvPicPr>
          <p:cNvPr id="2050" name="Picture 2"/>
          <p:cNvPicPr>
            <a:picLocks noGrp="1" noChangeAspect="1" noChangeArrowheads="1"/>
          </p:cNvPicPr>
          <p:nvPr>
            <p:ph idx="1"/>
          </p:nvPr>
        </p:nvPicPr>
        <p:blipFill>
          <a:blip r:embed="rId4" cstate="print"/>
          <a:srcRect/>
          <a:stretch>
            <a:fillRect/>
          </a:stretch>
        </p:blipFill>
        <p:spPr bwMode="auto">
          <a:xfrm>
            <a:off x="0" y="2819400"/>
            <a:ext cx="4191000" cy="1896096"/>
          </a:xfrm>
          <a:prstGeom prst="rect">
            <a:avLst/>
          </a:prstGeom>
          <a:noFill/>
          <a:ln w="9525">
            <a:noFill/>
            <a:miter lim="800000"/>
            <a:headEnd/>
            <a:tailEnd/>
          </a:ln>
        </p:spPr>
      </p:pic>
      <p:pic>
        <p:nvPicPr>
          <p:cNvPr id="2051" name="Picture 3"/>
          <p:cNvPicPr>
            <a:picLocks noChangeAspect="1" noChangeArrowheads="1"/>
          </p:cNvPicPr>
          <p:nvPr/>
        </p:nvPicPr>
        <p:blipFill>
          <a:blip r:embed="rId5" cstate="print"/>
          <a:srcRect/>
          <a:stretch>
            <a:fillRect/>
          </a:stretch>
        </p:blipFill>
        <p:spPr bwMode="auto">
          <a:xfrm>
            <a:off x="0" y="838200"/>
            <a:ext cx="4191000" cy="1993955"/>
          </a:xfrm>
          <a:prstGeom prst="rect">
            <a:avLst/>
          </a:prstGeom>
          <a:noFill/>
          <a:ln w="9525">
            <a:noFill/>
            <a:miter lim="800000"/>
            <a:headEnd/>
            <a:tailEnd/>
          </a:ln>
        </p:spPr>
      </p:pic>
      <p:pic>
        <p:nvPicPr>
          <p:cNvPr id="2052" name="Picture 4"/>
          <p:cNvPicPr>
            <a:picLocks noChangeAspect="1" noChangeArrowheads="1"/>
          </p:cNvPicPr>
          <p:nvPr/>
        </p:nvPicPr>
        <p:blipFill>
          <a:blip r:embed="rId6" cstate="print"/>
          <a:srcRect/>
          <a:stretch>
            <a:fillRect/>
          </a:stretch>
        </p:blipFill>
        <p:spPr bwMode="auto">
          <a:xfrm>
            <a:off x="4876800" y="838201"/>
            <a:ext cx="4267200" cy="2133600"/>
          </a:xfrm>
          <a:prstGeom prst="rect">
            <a:avLst/>
          </a:prstGeom>
          <a:noFill/>
          <a:ln w="9525">
            <a:noFill/>
            <a:miter lim="800000"/>
            <a:headEnd/>
            <a:tailEnd/>
          </a:ln>
        </p:spPr>
      </p:pic>
      <p:pic>
        <p:nvPicPr>
          <p:cNvPr id="2053" name="Picture 5"/>
          <p:cNvPicPr>
            <a:picLocks noChangeAspect="1" noChangeArrowheads="1"/>
          </p:cNvPicPr>
          <p:nvPr/>
        </p:nvPicPr>
        <p:blipFill>
          <a:blip r:embed="rId7" cstate="print"/>
          <a:srcRect/>
          <a:stretch>
            <a:fillRect/>
          </a:stretch>
        </p:blipFill>
        <p:spPr bwMode="auto">
          <a:xfrm>
            <a:off x="4876800" y="2971800"/>
            <a:ext cx="4267200" cy="18430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pPr algn="l"/>
            <a:r>
              <a:rPr lang="en-US" sz="2000" dirty="0" smtClean="0"/>
              <a:t>6. CDC ROI    PW=BE                                        7.Covering Kids</a:t>
            </a:r>
            <a:endParaRPr lang="en-US" sz="2000" dirty="0"/>
          </a:p>
        </p:txBody>
      </p:sp>
      <p:pic>
        <p:nvPicPr>
          <p:cNvPr id="4099" name="Picture 3"/>
          <p:cNvPicPr>
            <a:picLocks noChangeAspect="1" noChangeArrowheads="1"/>
          </p:cNvPicPr>
          <p:nvPr/>
        </p:nvPicPr>
        <p:blipFill>
          <a:blip r:embed="rId2" cstate="print"/>
          <a:srcRect/>
          <a:stretch>
            <a:fillRect/>
          </a:stretch>
        </p:blipFill>
        <p:spPr bwMode="auto">
          <a:xfrm>
            <a:off x="0" y="4670425"/>
            <a:ext cx="4232067" cy="2187575"/>
          </a:xfrm>
          <a:prstGeom prst="rect">
            <a:avLst/>
          </a:prstGeom>
          <a:noFill/>
          <a:ln w="9525">
            <a:noFill/>
            <a:miter lim="800000"/>
            <a:headEnd/>
            <a:tailEnd/>
          </a:ln>
        </p:spPr>
      </p:pic>
      <p:pic>
        <p:nvPicPr>
          <p:cNvPr id="4101" name="Picture 5"/>
          <p:cNvPicPr>
            <a:picLocks noChangeAspect="1" noChangeArrowheads="1"/>
          </p:cNvPicPr>
          <p:nvPr/>
        </p:nvPicPr>
        <p:blipFill>
          <a:blip r:embed="rId3" cstate="print"/>
          <a:srcRect/>
          <a:stretch>
            <a:fillRect/>
          </a:stretch>
        </p:blipFill>
        <p:spPr bwMode="auto">
          <a:xfrm>
            <a:off x="4542234" y="4724400"/>
            <a:ext cx="4601766" cy="2133600"/>
          </a:xfrm>
          <a:prstGeom prst="rect">
            <a:avLst/>
          </a:prstGeom>
          <a:noFill/>
          <a:ln w="9525">
            <a:noFill/>
            <a:miter lim="800000"/>
            <a:headEnd/>
            <a:tailEnd/>
          </a:ln>
        </p:spPr>
      </p:pic>
      <p:pic>
        <p:nvPicPr>
          <p:cNvPr id="8" name="Picture 2"/>
          <p:cNvPicPr>
            <a:picLocks noChangeAspect="1" noChangeArrowheads="1"/>
          </p:cNvPicPr>
          <p:nvPr/>
        </p:nvPicPr>
        <p:blipFill>
          <a:blip r:embed="rId4" cstate="print"/>
          <a:srcRect/>
          <a:stretch>
            <a:fillRect/>
          </a:stretch>
        </p:blipFill>
        <p:spPr bwMode="auto">
          <a:xfrm>
            <a:off x="0" y="2971800"/>
            <a:ext cx="4267200" cy="1766888"/>
          </a:xfrm>
          <a:prstGeom prst="rect">
            <a:avLst/>
          </a:prstGeom>
          <a:noFill/>
          <a:ln w="9525">
            <a:noFill/>
            <a:miter lim="800000"/>
            <a:headEnd/>
            <a:tailEnd/>
          </a:ln>
        </p:spPr>
      </p:pic>
      <p:pic>
        <p:nvPicPr>
          <p:cNvPr id="3" name="Content Placeholder 2"/>
          <p:cNvPicPr>
            <a:picLocks noGrp="1" noChangeAspect="1" noChangeArrowheads="1"/>
          </p:cNvPicPr>
          <p:nvPr>
            <p:ph idx="1"/>
          </p:nvPr>
        </p:nvPicPr>
        <p:blipFill>
          <a:blip r:embed="rId5" cstate="print"/>
          <a:srcRect/>
          <a:stretch>
            <a:fillRect/>
          </a:stretch>
        </p:blipFill>
        <p:spPr bwMode="auto">
          <a:xfrm>
            <a:off x="0" y="685801"/>
            <a:ext cx="4267723" cy="2209800"/>
          </a:xfrm>
          <a:prstGeom prst="rect">
            <a:avLst/>
          </a:prstGeom>
          <a:noFill/>
          <a:ln w="9525">
            <a:noFill/>
            <a:miter lim="800000"/>
            <a:headEnd/>
            <a:tailEnd/>
          </a:ln>
        </p:spPr>
      </p:pic>
      <p:pic>
        <p:nvPicPr>
          <p:cNvPr id="4" name="Picture 3"/>
          <p:cNvPicPr>
            <a:picLocks noChangeAspect="1" noChangeArrowheads="1"/>
          </p:cNvPicPr>
          <p:nvPr/>
        </p:nvPicPr>
        <p:blipFill>
          <a:blip r:embed="rId6" cstate="print"/>
          <a:srcRect/>
          <a:stretch>
            <a:fillRect/>
          </a:stretch>
        </p:blipFill>
        <p:spPr bwMode="auto">
          <a:xfrm>
            <a:off x="4606238" y="698377"/>
            <a:ext cx="4537762" cy="2273423"/>
          </a:xfrm>
          <a:prstGeom prst="rect">
            <a:avLst/>
          </a:prstGeom>
          <a:noFill/>
          <a:ln w="9525">
            <a:noFill/>
            <a:miter lim="800000"/>
            <a:headEnd/>
            <a:tailEnd/>
          </a:ln>
        </p:spPr>
      </p:pic>
      <p:pic>
        <p:nvPicPr>
          <p:cNvPr id="5" name="Picture 4"/>
          <p:cNvPicPr>
            <a:picLocks noChangeAspect="1" noChangeArrowheads="1"/>
          </p:cNvPicPr>
          <p:nvPr/>
        </p:nvPicPr>
        <p:blipFill>
          <a:blip r:embed="rId7" cstate="print"/>
          <a:srcRect/>
          <a:stretch>
            <a:fillRect/>
          </a:stretch>
        </p:blipFill>
        <p:spPr bwMode="auto">
          <a:xfrm>
            <a:off x="4572000" y="2895600"/>
            <a:ext cx="4572000" cy="1828800"/>
          </a:xfrm>
          <a:prstGeom prst="rect">
            <a:avLst/>
          </a:prstGeom>
          <a:noFill/>
          <a:ln w="9525">
            <a:noFill/>
            <a:miter lim="800000"/>
            <a:headEnd/>
            <a:tailEnd/>
          </a:ln>
        </p:spPr>
      </p:pic>
      <p:sp>
        <p:nvSpPr>
          <p:cNvPr id="9" name="Rounded Rectangle 8"/>
          <p:cNvSpPr/>
          <p:nvPr/>
        </p:nvSpPr>
        <p:spPr>
          <a:xfrm>
            <a:off x="457200" y="304800"/>
            <a:ext cx="2438400" cy="457200"/>
          </a:xfrm>
          <a:prstGeom prst="roundRect">
            <a:avLst/>
          </a:prstGeom>
          <a:solidFill>
            <a:schemeClr val="accent6">
              <a:lumMod val="60000"/>
              <a:lumOff val="40000"/>
              <a:alpha val="20000"/>
            </a:schemeClr>
          </a:solidFill>
          <a:ln w="508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pPr algn="l"/>
            <a:r>
              <a:rPr lang="en-US" sz="2000" dirty="0" smtClean="0"/>
              <a:t>8. Create                                                                   9.  CWD </a:t>
            </a:r>
            <a:endParaRPr lang="en-US" sz="2000" dirty="0"/>
          </a:p>
        </p:txBody>
      </p:sp>
      <p:pic>
        <p:nvPicPr>
          <p:cNvPr id="5124" name="Picture 4"/>
          <p:cNvPicPr>
            <a:picLocks noChangeAspect="1" noChangeArrowheads="1"/>
          </p:cNvPicPr>
          <p:nvPr/>
        </p:nvPicPr>
        <p:blipFill>
          <a:blip r:embed="rId2" cstate="print"/>
          <a:srcRect/>
          <a:stretch>
            <a:fillRect/>
          </a:stretch>
        </p:blipFill>
        <p:spPr bwMode="auto">
          <a:xfrm>
            <a:off x="4471986" y="4648200"/>
            <a:ext cx="4672014" cy="2035175"/>
          </a:xfrm>
          <a:prstGeom prst="rect">
            <a:avLst/>
          </a:prstGeom>
          <a:noFill/>
          <a:ln w="9525">
            <a:noFill/>
            <a:miter lim="800000"/>
            <a:headEnd/>
            <a:tailEnd/>
          </a:ln>
        </p:spPr>
      </p:pic>
      <p:pic>
        <p:nvPicPr>
          <p:cNvPr id="5125" name="Picture 5"/>
          <p:cNvPicPr>
            <a:picLocks noChangeAspect="1" noChangeArrowheads="1"/>
          </p:cNvPicPr>
          <p:nvPr/>
        </p:nvPicPr>
        <p:blipFill>
          <a:blip r:embed="rId3" cstate="print"/>
          <a:srcRect/>
          <a:stretch>
            <a:fillRect/>
          </a:stretch>
        </p:blipFill>
        <p:spPr bwMode="auto">
          <a:xfrm>
            <a:off x="0" y="4648200"/>
            <a:ext cx="4191000" cy="1989137"/>
          </a:xfrm>
          <a:prstGeom prst="rect">
            <a:avLst/>
          </a:prstGeom>
          <a:noFill/>
          <a:ln w="9525">
            <a:noFill/>
            <a:miter lim="800000"/>
            <a:headEnd/>
            <a:tailEnd/>
          </a:ln>
        </p:spPr>
      </p:pic>
      <p:pic>
        <p:nvPicPr>
          <p:cNvPr id="3076" name="Picture 4"/>
          <p:cNvPicPr>
            <a:picLocks noChangeAspect="1" noChangeArrowheads="1"/>
          </p:cNvPicPr>
          <p:nvPr/>
        </p:nvPicPr>
        <p:blipFill>
          <a:blip r:embed="rId4" cstate="print"/>
          <a:srcRect/>
          <a:stretch>
            <a:fillRect/>
          </a:stretch>
        </p:blipFill>
        <p:spPr bwMode="auto">
          <a:xfrm>
            <a:off x="1" y="685801"/>
            <a:ext cx="4190999" cy="1927619"/>
          </a:xfrm>
          <a:prstGeom prst="rect">
            <a:avLst/>
          </a:prstGeom>
          <a:noFill/>
          <a:ln w="9525">
            <a:noFill/>
            <a:miter lim="800000"/>
            <a:headEnd/>
            <a:tailEnd/>
          </a:ln>
        </p:spPr>
      </p:pic>
      <p:pic>
        <p:nvPicPr>
          <p:cNvPr id="3077" name="Picture 5"/>
          <p:cNvPicPr>
            <a:picLocks noGrp="1" noChangeAspect="1" noChangeArrowheads="1"/>
          </p:cNvPicPr>
          <p:nvPr>
            <p:ph idx="1"/>
          </p:nvPr>
        </p:nvPicPr>
        <p:blipFill>
          <a:blip r:embed="rId5" cstate="print"/>
          <a:srcRect/>
          <a:stretch>
            <a:fillRect/>
          </a:stretch>
        </p:blipFill>
        <p:spPr bwMode="auto">
          <a:xfrm>
            <a:off x="0" y="2590800"/>
            <a:ext cx="4191000" cy="1981200"/>
          </a:xfrm>
          <a:prstGeom prst="rect">
            <a:avLst/>
          </a:prstGeom>
          <a:noFill/>
          <a:ln w="9525">
            <a:noFill/>
            <a:miter lim="800000"/>
            <a:headEnd/>
            <a:tailEnd/>
          </a:ln>
        </p:spPr>
      </p:pic>
      <p:pic>
        <p:nvPicPr>
          <p:cNvPr id="3078" name="Picture 6"/>
          <p:cNvPicPr>
            <a:picLocks noChangeAspect="1" noChangeArrowheads="1"/>
          </p:cNvPicPr>
          <p:nvPr/>
        </p:nvPicPr>
        <p:blipFill>
          <a:blip r:embed="rId6" cstate="print"/>
          <a:srcRect/>
          <a:stretch>
            <a:fillRect/>
          </a:stretch>
        </p:blipFill>
        <p:spPr bwMode="auto">
          <a:xfrm>
            <a:off x="4495800" y="685801"/>
            <a:ext cx="4648200" cy="1905000"/>
          </a:xfrm>
          <a:prstGeom prst="rect">
            <a:avLst/>
          </a:prstGeom>
          <a:noFill/>
          <a:ln w="9525">
            <a:noFill/>
            <a:miter lim="800000"/>
            <a:headEnd/>
            <a:tailEnd/>
          </a:ln>
        </p:spPr>
      </p:pic>
      <p:pic>
        <p:nvPicPr>
          <p:cNvPr id="3079" name="Picture 7"/>
          <p:cNvPicPr>
            <a:picLocks noChangeAspect="1" noChangeArrowheads="1"/>
          </p:cNvPicPr>
          <p:nvPr/>
        </p:nvPicPr>
        <p:blipFill>
          <a:blip r:embed="rId7" cstate="print"/>
          <a:srcRect/>
          <a:stretch>
            <a:fillRect/>
          </a:stretch>
        </p:blipFill>
        <p:spPr bwMode="auto">
          <a:xfrm>
            <a:off x="4495800" y="2590800"/>
            <a:ext cx="4648201" cy="2057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pPr algn="l"/>
            <a:r>
              <a:rPr lang="en-US" sz="2000" dirty="0" smtClean="0"/>
              <a:t>10. Daniela  PW=BE                                                               11. DCPN Fistula</a:t>
            </a:r>
            <a:endParaRPr lang="en-US" sz="2000" dirty="0"/>
          </a:p>
        </p:txBody>
      </p:sp>
      <p:pic>
        <p:nvPicPr>
          <p:cNvPr id="6147" name="Picture 3"/>
          <p:cNvPicPr>
            <a:picLocks noChangeAspect="1" noChangeArrowheads="1"/>
          </p:cNvPicPr>
          <p:nvPr/>
        </p:nvPicPr>
        <p:blipFill>
          <a:blip r:embed="rId2" cstate="print"/>
          <a:srcRect/>
          <a:stretch>
            <a:fillRect/>
          </a:stretch>
        </p:blipFill>
        <p:spPr bwMode="auto">
          <a:xfrm>
            <a:off x="0" y="4816475"/>
            <a:ext cx="4038600" cy="2041525"/>
          </a:xfrm>
          <a:prstGeom prst="rect">
            <a:avLst/>
          </a:prstGeom>
          <a:noFill/>
          <a:ln w="9525">
            <a:noFill/>
            <a:miter lim="800000"/>
            <a:headEnd/>
            <a:tailEnd/>
          </a:ln>
        </p:spPr>
      </p:pic>
      <p:pic>
        <p:nvPicPr>
          <p:cNvPr id="6149" name="Picture 5"/>
          <p:cNvPicPr>
            <a:picLocks noChangeAspect="1" noChangeArrowheads="1"/>
          </p:cNvPicPr>
          <p:nvPr/>
        </p:nvPicPr>
        <p:blipFill>
          <a:blip r:embed="rId3" cstate="print"/>
          <a:srcRect/>
          <a:stretch>
            <a:fillRect/>
          </a:stretch>
        </p:blipFill>
        <p:spPr bwMode="auto">
          <a:xfrm>
            <a:off x="4495801" y="4808537"/>
            <a:ext cx="4648200" cy="2049463"/>
          </a:xfrm>
          <a:prstGeom prst="rect">
            <a:avLst/>
          </a:prstGeom>
          <a:noFill/>
          <a:ln w="9525">
            <a:noFill/>
            <a:miter lim="800000"/>
            <a:headEnd/>
            <a:tailEnd/>
          </a:ln>
        </p:spPr>
      </p:pic>
      <p:pic>
        <p:nvPicPr>
          <p:cNvPr id="5122" name="Picture 2"/>
          <p:cNvPicPr>
            <a:picLocks noGrp="1" noChangeAspect="1" noChangeArrowheads="1"/>
          </p:cNvPicPr>
          <p:nvPr>
            <p:ph idx="1"/>
          </p:nvPr>
        </p:nvPicPr>
        <p:blipFill>
          <a:blip r:embed="rId4" cstate="print"/>
          <a:srcRect/>
          <a:stretch>
            <a:fillRect/>
          </a:stretch>
        </p:blipFill>
        <p:spPr bwMode="auto">
          <a:xfrm>
            <a:off x="1" y="609600"/>
            <a:ext cx="4038599" cy="2398351"/>
          </a:xfrm>
          <a:prstGeom prst="rect">
            <a:avLst/>
          </a:prstGeom>
          <a:noFill/>
          <a:ln w="9525">
            <a:noFill/>
            <a:miter lim="800000"/>
            <a:headEnd/>
            <a:tailEnd/>
          </a:ln>
        </p:spPr>
      </p:pic>
      <p:pic>
        <p:nvPicPr>
          <p:cNvPr id="5123" name="Picture 3"/>
          <p:cNvPicPr>
            <a:picLocks noChangeAspect="1" noChangeArrowheads="1"/>
          </p:cNvPicPr>
          <p:nvPr/>
        </p:nvPicPr>
        <p:blipFill>
          <a:blip r:embed="rId5" cstate="print"/>
          <a:srcRect/>
          <a:stretch>
            <a:fillRect/>
          </a:stretch>
        </p:blipFill>
        <p:spPr bwMode="auto">
          <a:xfrm>
            <a:off x="0" y="2971800"/>
            <a:ext cx="4038600" cy="1828800"/>
          </a:xfrm>
          <a:prstGeom prst="rect">
            <a:avLst/>
          </a:prstGeom>
          <a:noFill/>
          <a:ln w="9525">
            <a:noFill/>
            <a:miter lim="800000"/>
            <a:headEnd/>
            <a:tailEnd/>
          </a:ln>
        </p:spPr>
      </p:pic>
      <p:pic>
        <p:nvPicPr>
          <p:cNvPr id="5124" name="Picture 4"/>
          <p:cNvPicPr>
            <a:picLocks noChangeAspect="1" noChangeArrowheads="1"/>
          </p:cNvPicPr>
          <p:nvPr/>
        </p:nvPicPr>
        <p:blipFill>
          <a:blip r:embed="rId6" cstate="print"/>
          <a:srcRect/>
          <a:stretch>
            <a:fillRect/>
          </a:stretch>
        </p:blipFill>
        <p:spPr bwMode="auto">
          <a:xfrm>
            <a:off x="4495800" y="609601"/>
            <a:ext cx="4648200" cy="2406808"/>
          </a:xfrm>
          <a:prstGeom prst="rect">
            <a:avLst/>
          </a:prstGeom>
          <a:noFill/>
          <a:ln w="9525">
            <a:noFill/>
            <a:miter lim="800000"/>
            <a:headEnd/>
            <a:tailEnd/>
          </a:ln>
        </p:spPr>
      </p:pic>
      <p:pic>
        <p:nvPicPr>
          <p:cNvPr id="5125" name="Picture 5"/>
          <p:cNvPicPr>
            <a:picLocks noChangeAspect="1" noChangeArrowheads="1"/>
          </p:cNvPicPr>
          <p:nvPr/>
        </p:nvPicPr>
        <p:blipFill>
          <a:blip r:embed="rId7" cstate="print"/>
          <a:srcRect/>
          <a:stretch>
            <a:fillRect/>
          </a:stretch>
        </p:blipFill>
        <p:spPr bwMode="auto">
          <a:xfrm>
            <a:off x="4495801" y="2971800"/>
            <a:ext cx="4648200" cy="1843088"/>
          </a:xfrm>
          <a:prstGeom prst="rect">
            <a:avLst/>
          </a:prstGeom>
          <a:noFill/>
          <a:ln w="9525">
            <a:noFill/>
            <a:miter lim="800000"/>
            <a:headEnd/>
            <a:tailEnd/>
          </a:ln>
        </p:spPr>
      </p:pic>
      <p:sp>
        <p:nvSpPr>
          <p:cNvPr id="9" name="Rounded Rectangle 8"/>
          <p:cNvSpPr/>
          <p:nvPr/>
        </p:nvSpPr>
        <p:spPr>
          <a:xfrm>
            <a:off x="533400" y="228600"/>
            <a:ext cx="2438400" cy="457200"/>
          </a:xfrm>
          <a:prstGeom prst="roundRect">
            <a:avLst/>
          </a:prstGeom>
          <a:solidFill>
            <a:schemeClr val="accent6">
              <a:lumMod val="60000"/>
              <a:lumOff val="40000"/>
              <a:alpha val="20000"/>
            </a:schemeClr>
          </a:solidFill>
          <a:ln w="508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pPr algn="l"/>
            <a:r>
              <a:rPr lang="en-US" sz="2000" dirty="0" smtClean="0"/>
              <a:t>12.EBBP                                                               13. Effusive Erupt</a:t>
            </a:r>
            <a:endParaRPr lang="en-US" sz="2000" dirty="0"/>
          </a:p>
        </p:txBody>
      </p:sp>
      <p:pic>
        <p:nvPicPr>
          <p:cNvPr id="7171" name="Picture 3"/>
          <p:cNvPicPr>
            <a:picLocks noChangeAspect="1" noChangeArrowheads="1"/>
          </p:cNvPicPr>
          <p:nvPr/>
        </p:nvPicPr>
        <p:blipFill>
          <a:blip r:embed="rId2" cstate="print"/>
          <a:srcRect/>
          <a:stretch>
            <a:fillRect/>
          </a:stretch>
        </p:blipFill>
        <p:spPr bwMode="auto">
          <a:xfrm>
            <a:off x="0" y="4724400"/>
            <a:ext cx="4419600" cy="2133601"/>
          </a:xfrm>
          <a:prstGeom prst="rect">
            <a:avLst/>
          </a:prstGeom>
          <a:noFill/>
          <a:ln w="9525">
            <a:noFill/>
            <a:miter lim="800000"/>
            <a:headEnd/>
            <a:tailEnd/>
          </a:ln>
        </p:spPr>
      </p:pic>
      <p:pic>
        <p:nvPicPr>
          <p:cNvPr id="7173" name="Picture 5"/>
          <p:cNvPicPr>
            <a:picLocks noChangeAspect="1" noChangeArrowheads="1"/>
          </p:cNvPicPr>
          <p:nvPr/>
        </p:nvPicPr>
        <p:blipFill>
          <a:blip r:embed="rId3" cstate="print"/>
          <a:srcRect/>
          <a:stretch>
            <a:fillRect/>
          </a:stretch>
        </p:blipFill>
        <p:spPr bwMode="auto">
          <a:xfrm>
            <a:off x="4648200" y="4724399"/>
            <a:ext cx="4495801" cy="2133601"/>
          </a:xfrm>
          <a:prstGeom prst="rect">
            <a:avLst/>
          </a:prstGeom>
          <a:noFill/>
          <a:ln w="9525">
            <a:noFill/>
            <a:miter lim="800000"/>
            <a:headEnd/>
            <a:tailEnd/>
          </a:ln>
        </p:spPr>
      </p:pic>
      <p:pic>
        <p:nvPicPr>
          <p:cNvPr id="6146" name="Picture 2"/>
          <p:cNvPicPr>
            <a:picLocks noChangeAspect="1" noChangeArrowheads="1"/>
          </p:cNvPicPr>
          <p:nvPr/>
        </p:nvPicPr>
        <p:blipFill>
          <a:blip r:embed="rId4" cstate="print"/>
          <a:srcRect/>
          <a:stretch>
            <a:fillRect/>
          </a:stretch>
        </p:blipFill>
        <p:spPr bwMode="auto">
          <a:xfrm>
            <a:off x="1" y="2895600"/>
            <a:ext cx="4419600" cy="1843088"/>
          </a:xfrm>
          <a:prstGeom prst="rect">
            <a:avLst/>
          </a:prstGeom>
          <a:noFill/>
          <a:ln w="9525">
            <a:noFill/>
            <a:miter lim="800000"/>
            <a:headEnd/>
            <a:tailEnd/>
          </a:ln>
        </p:spPr>
      </p:pic>
      <p:pic>
        <p:nvPicPr>
          <p:cNvPr id="6147" name="Picture 3"/>
          <p:cNvPicPr>
            <a:picLocks noGrp="1" noChangeAspect="1" noChangeArrowheads="1"/>
          </p:cNvPicPr>
          <p:nvPr>
            <p:ph idx="1"/>
          </p:nvPr>
        </p:nvPicPr>
        <p:blipFill>
          <a:blip r:embed="rId5" cstate="print"/>
          <a:srcRect/>
          <a:stretch>
            <a:fillRect/>
          </a:stretch>
        </p:blipFill>
        <p:spPr bwMode="auto">
          <a:xfrm>
            <a:off x="0" y="838200"/>
            <a:ext cx="4419600" cy="2057400"/>
          </a:xfrm>
          <a:prstGeom prst="rect">
            <a:avLst/>
          </a:prstGeom>
          <a:noFill/>
          <a:ln w="9525">
            <a:noFill/>
            <a:miter lim="800000"/>
            <a:headEnd/>
            <a:tailEnd/>
          </a:ln>
        </p:spPr>
      </p:pic>
      <p:pic>
        <p:nvPicPr>
          <p:cNvPr id="6148" name="Picture 4"/>
          <p:cNvPicPr>
            <a:picLocks noChangeAspect="1" noChangeArrowheads="1"/>
          </p:cNvPicPr>
          <p:nvPr/>
        </p:nvPicPr>
        <p:blipFill>
          <a:blip r:embed="rId6" cstate="print"/>
          <a:srcRect/>
          <a:stretch>
            <a:fillRect/>
          </a:stretch>
        </p:blipFill>
        <p:spPr bwMode="auto">
          <a:xfrm>
            <a:off x="4648200" y="838201"/>
            <a:ext cx="4495800" cy="2057399"/>
          </a:xfrm>
          <a:prstGeom prst="rect">
            <a:avLst/>
          </a:prstGeom>
          <a:noFill/>
          <a:ln w="9525">
            <a:noFill/>
            <a:miter lim="800000"/>
            <a:headEnd/>
            <a:tailEnd/>
          </a:ln>
        </p:spPr>
      </p:pic>
      <p:pic>
        <p:nvPicPr>
          <p:cNvPr id="6149" name="Picture 5"/>
          <p:cNvPicPr>
            <a:picLocks noChangeAspect="1" noChangeArrowheads="1"/>
          </p:cNvPicPr>
          <p:nvPr/>
        </p:nvPicPr>
        <p:blipFill>
          <a:blip r:embed="rId7" cstate="print"/>
          <a:srcRect/>
          <a:stretch>
            <a:fillRect/>
          </a:stretch>
        </p:blipFill>
        <p:spPr bwMode="auto">
          <a:xfrm>
            <a:off x="4648200" y="2895600"/>
            <a:ext cx="4495800" cy="17668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pPr algn="l"/>
            <a:r>
              <a:rPr lang="en-US" sz="2000" dirty="0" smtClean="0"/>
              <a:t>14 Erie Carps                                                          15 FCEP  PW=BE</a:t>
            </a:r>
            <a:endParaRPr lang="en-US" sz="2000" dirty="0"/>
          </a:p>
        </p:txBody>
      </p:sp>
      <p:pic>
        <p:nvPicPr>
          <p:cNvPr id="8196" name="Picture 4"/>
          <p:cNvPicPr>
            <a:picLocks noChangeAspect="1" noChangeArrowheads="1"/>
          </p:cNvPicPr>
          <p:nvPr/>
        </p:nvPicPr>
        <p:blipFill>
          <a:blip r:embed="rId2" cstate="print"/>
          <a:srcRect/>
          <a:stretch>
            <a:fillRect/>
          </a:stretch>
        </p:blipFill>
        <p:spPr bwMode="auto">
          <a:xfrm>
            <a:off x="4419600" y="4654445"/>
            <a:ext cx="4724400" cy="2203555"/>
          </a:xfrm>
          <a:prstGeom prst="rect">
            <a:avLst/>
          </a:prstGeom>
          <a:noFill/>
          <a:ln w="9525">
            <a:noFill/>
            <a:miter lim="800000"/>
            <a:headEnd/>
            <a:tailEnd/>
          </a:ln>
        </p:spPr>
      </p:pic>
      <p:pic>
        <p:nvPicPr>
          <p:cNvPr id="8197" name="Picture 5"/>
          <p:cNvPicPr>
            <a:picLocks noChangeAspect="1" noChangeArrowheads="1"/>
          </p:cNvPicPr>
          <p:nvPr/>
        </p:nvPicPr>
        <p:blipFill>
          <a:blip r:embed="rId3" cstate="print"/>
          <a:srcRect/>
          <a:stretch>
            <a:fillRect/>
          </a:stretch>
        </p:blipFill>
        <p:spPr bwMode="auto">
          <a:xfrm>
            <a:off x="0" y="4653643"/>
            <a:ext cx="4114800" cy="2204357"/>
          </a:xfrm>
          <a:prstGeom prst="rect">
            <a:avLst/>
          </a:prstGeom>
          <a:noFill/>
          <a:ln w="9525">
            <a:noFill/>
            <a:miter lim="800000"/>
            <a:headEnd/>
            <a:tailEnd/>
          </a:ln>
        </p:spPr>
      </p:pic>
      <p:pic>
        <p:nvPicPr>
          <p:cNvPr id="7170" name="Picture 2"/>
          <p:cNvPicPr>
            <a:picLocks noChangeAspect="1" noChangeArrowheads="1"/>
          </p:cNvPicPr>
          <p:nvPr/>
        </p:nvPicPr>
        <p:blipFill>
          <a:blip r:embed="rId4" cstate="print"/>
          <a:srcRect/>
          <a:stretch>
            <a:fillRect/>
          </a:stretch>
        </p:blipFill>
        <p:spPr bwMode="auto">
          <a:xfrm>
            <a:off x="0" y="2895600"/>
            <a:ext cx="4097518" cy="1752599"/>
          </a:xfrm>
          <a:prstGeom prst="rect">
            <a:avLst/>
          </a:prstGeom>
          <a:noFill/>
          <a:ln w="9525">
            <a:noFill/>
            <a:miter lim="800000"/>
            <a:headEnd/>
            <a:tailEnd/>
          </a:ln>
        </p:spPr>
      </p:pic>
      <p:pic>
        <p:nvPicPr>
          <p:cNvPr id="7171" name="Picture 3"/>
          <p:cNvPicPr>
            <a:picLocks noGrp="1" noChangeAspect="1" noChangeArrowheads="1"/>
          </p:cNvPicPr>
          <p:nvPr>
            <p:ph idx="1"/>
          </p:nvPr>
        </p:nvPicPr>
        <p:blipFill>
          <a:blip r:embed="rId5" cstate="print"/>
          <a:srcRect/>
          <a:stretch>
            <a:fillRect/>
          </a:stretch>
        </p:blipFill>
        <p:spPr bwMode="auto">
          <a:xfrm>
            <a:off x="0" y="685800"/>
            <a:ext cx="4114800" cy="2227471"/>
          </a:xfrm>
          <a:prstGeom prst="rect">
            <a:avLst/>
          </a:prstGeom>
          <a:noFill/>
          <a:ln w="9525">
            <a:noFill/>
            <a:miter lim="800000"/>
            <a:headEnd/>
            <a:tailEnd/>
          </a:ln>
        </p:spPr>
      </p:pic>
      <p:pic>
        <p:nvPicPr>
          <p:cNvPr id="7172" name="Picture 4"/>
          <p:cNvPicPr>
            <a:picLocks noChangeAspect="1" noChangeArrowheads="1"/>
          </p:cNvPicPr>
          <p:nvPr/>
        </p:nvPicPr>
        <p:blipFill>
          <a:blip r:embed="rId6" cstate="print"/>
          <a:srcRect/>
          <a:stretch>
            <a:fillRect/>
          </a:stretch>
        </p:blipFill>
        <p:spPr bwMode="auto">
          <a:xfrm>
            <a:off x="4434788" y="685800"/>
            <a:ext cx="4709212" cy="2209800"/>
          </a:xfrm>
          <a:prstGeom prst="rect">
            <a:avLst/>
          </a:prstGeom>
          <a:noFill/>
          <a:ln w="9525">
            <a:noFill/>
            <a:miter lim="800000"/>
            <a:headEnd/>
            <a:tailEnd/>
          </a:ln>
        </p:spPr>
      </p:pic>
      <p:pic>
        <p:nvPicPr>
          <p:cNvPr id="7173" name="Picture 5"/>
          <p:cNvPicPr>
            <a:picLocks noChangeAspect="1" noChangeArrowheads="1"/>
          </p:cNvPicPr>
          <p:nvPr/>
        </p:nvPicPr>
        <p:blipFill>
          <a:blip r:embed="rId6" cstate="print"/>
          <a:srcRect/>
          <a:stretch>
            <a:fillRect/>
          </a:stretch>
        </p:blipFill>
        <p:spPr bwMode="auto">
          <a:xfrm>
            <a:off x="4419600" y="2895601"/>
            <a:ext cx="4724400" cy="1752600"/>
          </a:xfrm>
          <a:prstGeom prst="rect">
            <a:avLst/>
          </a:prstGeom>
          <a:noFill/>
          <a:ln w="9525">
            <a:noFill/>
            <a:miter lim="800000"/>
            <a:headEnd/>
            <a:tailEnd/>
          </a:ln>
        </p:spPr>
      </p:pic>
      <p:sp>
        <p:nvSpPr>
          <p:cNvPr id="9" name="Rounded Rectangle 8"/>
          <p:cNvSpPr/>
          <p:nvPr/>
        </p:nvSpPr>
        <p:spPr>
          <a:xfrm>
            <a:off x="4876800" y="228600"/>
            <a:ext cx="2438400" cy="457200"/>
          </a:xfrm>
          <a:prstGeom prst="roundRect">
            <a:avLst/>
          </a:prstGeom>
          <a:solidFill>
            <a:schemeClr val="accent6">
              <a:lumMod val="60000"/>
              <a:lumOff val="40000"/>
              <a:alpha val="20000"/>
            </a:schemeClr>
          </a:solidFill>
          <a:ln w="508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pPr algn="l"/>
            <a:r>
              <a:rPr lang="en-US" sz="2000" dirty="0" smtClean="0"/>
              <a:t>16 Florida                                                                     17 </a:t>
            </a:r>
            <a:r>
              <a:rPr lang="en-US" sz="2000" dirty="0" err="1" smtClean="0"/>
              <a:t>Gerstenberger</a:t>
            </a:r>
            <a:endParaRPr lang="en-US" sz="2000" dirty="0"/>
          </a:p>
        </p:txBody>
      </p:sp>
      <p:pic>
        <p:nvPicPr>
          <p:cNvPr id="9219" name="Picture 3"/>
          <p:cNvPicPr>
            <a:picLocks noChangeAspect="1" noChangeArrowheads="1"/>
          </p:cNvPicPr>
          <p:nvPr/>
        </p:nvPicPr>
        <p:blipFill>
          <a:blip r:embed="rId2" cstate="print"/>
          <a:srcRect/>
          <a:stretch>
            <a:fillRect/>
          </a:stretch>
        </p:blipFill>
        <p:spPr bwMode="auto">
          <a:xfrm>
            <a:off x="0" y="4572000"/>
            <a:ext cx="4343399" cy="2286000"/>
          </a:xfrm>
          <a:prstGeom prst="rect">
            <a:avLst/>
          </a:prstGeom>
          <a:noFill/>
          <a:ln w="9525">
            <a:noFill/>
            <a:miter lim="800000"/>
            <a:headEnd/>
            <a:tailEnd/>
          </a:ln>
        </p:spPr>
      </p:pic>
      <p:pic>
        <p:nvPicPr>
          <p:cNvPr id="9221" name="Picture 5"/>
          <p:cNvPicPr>
            <a:picLocks noChangeAspect="1" noChangeArrowheads="1"/>
          </p:cNvPicPr>
          <p:nvPr/>
        </p:nvPicPr>
        <p:blipFill>
          <a:blip r:embed="rId3" cstate="print"/>
          <a:srcRect/>
          <a:stretch>
            <a:fillRect/>
          </a:stretch>
        </p:blipFill>
        <p:spPr bwMode="auto">
          <a:xfrm>
            <a:off x="4673713" y="4648200"/>
            <a:ext cx="4470287" cy="2209800"/>
          </a:xfrm>
          <a:prstGeom prst="rect">
            <a:avLst/>
          </a:prstGeom>
          <a:noFill/>
          <a:ln w="9525">
            <a:noFill/>
            <a:miter lim="800000"/>
            <a:headEnd/>
            <a:tailEnd/>
          </a:ln>
        </p:spPr>
      </p:pic>
      <p:pic>
        <p:nvPicPr>
          <p:cNvPr id="8195" name="Picture 3"/>
          <p:cNvPicPr>
            <a:picLocks noChangeAspect="1" noChangeArrowheads="1"/>
          </p:cNvPicPr>
          <p:nvPr/>
        </p:nvPicPr>
        <p:blipFill>
          <a:blip r:embed="rId4" cstate="print"/>
          <a:srcRect/>
          <a:stretch>
            <a:fillRect/>
          </a:stretch>
        </p:blipFill>
        <p:spPr bwMode="auto">
          <a:xfrm>
            <a:off x="1" y="685801"/>
            <a:ext cx="4337616" cy="2209799"/>
          </a:xfrm>
          <a:prstGeom prst="rect">
            <a:avLst/>
          </a:prstGeom>
          <a:noFill/>
          <a:ln w="9525">
            <a:noFill/>
            <a:miter lim="800000"/>
            <a:headEnd/>
            <a:tailEnd/>
          </a:ln>
        </p:spPr>
      </p:pic>
      <p:pic>
        <p:nvPicPr>
          <p:cNvPr id="8196" name="Picture 4"/>
          <p:cNvPicPr>
            <a:picLocks noGrp="1" noChangeAspect="1" noChangeArrowheads="1"/>
          </p:cNvPicPr>
          <p:nvPr>
            <p:ph idx="1"/>
          </p:nvPr>
        </p:nvPicPr>
        <p:blipFill>
          <a:blip r:embed="rId5" cstate="print"/>
          <a:srcRect/>
          <a:stretch>
            <a:fillRect/>
          </a:stretch>
        </p:blipFill>
        <p:spPr bwMode="auto">
          <a:xfrm>
            <a:off x="0" y="2895600"/>
            <a:ext cx="4343400" cy="1743696"/>
          </a:xfrm>
          <a:prstGeom prst="rect">
            <a:avLst/>
          </a:prstGeom>
          <a:noFill/>
          <a:ln w="9525">
            <a:noFill/>
            <a:miter lim="800000"/>
            <a:headEnd/>
            <a:tailEnd/>
          </a:ln>
        </p:spPr>
      </p:pic>
      <p:pic>
        <p:nvPicPr>
          <p:cNvPr id="8197" name="Picture 5"/>
          <p:cNvPicPr>
            <a:picLocks noChangeAspect="1" noChangeArrowheads="1"/>
          </p:cNvPicPr>
          <p:nvPr/>
        </p:nvPicPr>
        <p:blipFill>
          <a:blip r:embed="rId6" cstate="print"/>
          <a:srcRect/>
          <a:stretch>
            <a:fillRect/>
          </a:stretch>
        </p:blipFill>
        <p:spPr bwMode="auto">
          <a:xfrm>
            <a:off x="4648200" y="2895600"/>
            <a:ext cx="4495800" cy="1781175"/>
          </a:xfrm>
          <a:prstGeom prst="rect">
            <a:avLst/>
          </a:prstGeom>
          <a:noFill/>
          <a:ln w="9525">
            <a:noFill/>
            <a:miter lim="800000"/>
            <a:headEnd/>
            <a:tailEnd/>
          </a:ln>
        </p:spPr>
      </p:pic>
      <p:pic>
        <p:nvPicPr>
          <p:cNvPr id="8198" name="Picture 6"/>
          <p:cNvPicPr>
            <a:picLocks noChangeAspect="1" noChangeArrowheads="1"/>
          </p:cNvPicPr>
          <p:nvPr/>
        </p:nvPicPr>
        <p:blipFill>
          <a:blip r:embed="rId7" cstate="print"/>
          <a:srcRect/>
          <a:stretch>
            <a:fillRect/>
          </a:stretch>
        </p:blipFill>
        <p:spPr bwMode="auto">
          <a:xfrm>
            <a:off x="4648200" y="685800"/>
            <a:ext cx="4495800" cy="239173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pPr algn="l"/>
            <a:r>
              <a:rPr lang="en-US" sz="2000" dirty="0" smtClean="0"/>
              <a:t>18 GL-NIS                                                                    19 </a:t>
            </a:r>
            <a:r>
              <a:rPr lang="en-US" sz="2000" dirty="0" err="1" smtClean="0"/>
              <a:t>Goodheart</a:t>
            </a:r>
            <a:r>
              <a:rPr lang="en-US" sz="2000" dirty="0" smtClean="0"/>
              <a:t> PW=BE</a:t>
            </a:r>
            <a:endParaRPr lang="en-US" sz="2000" dirty="0"/>
          </a:p>
        </p:txBody>
      </p:sp>
      <p:pic>
        <p:nvPicPr>
          <p:cNvPr id="10243" name="Picture 3"/>
          <p:cNvPicPr>
            <a:picLocks noChangeAspect="1" noChangeArrowheads="1"/>
          </p:cNvPicPr>
          <p:nvPr/>
        </p:nvPicPr>
        <p:blipFill>
          <a:blip r:embed="rId2" cstate="print"/>
          <a:srcRect/>
          <a:stretch>
            <a:fillRect/>
          </a:stretch>
        </p:blipFill>
        <p:spPr bwMode="auto">
          <a:xfrm>
            <a:off x="1" y="4876800"/>
            <a:ext cx="4419600" cy="1981200"/>
          </a:xfrm>
          <a:prstGeom prst="rect">
            <a:avLst/>
          </a:prstGeom>
          <a:noFill/>
          <a:ln w="9525">
            <a:noFill/>
            <a:miter lim="800000"/>
            <a:headEnd/>
            <a:tailEnd/>
          </a:ln>
        </p:spPr>
      </p:pic>
      <p:pic>
        <p:nvPicPr>
          <p:cNvPr id="10245" name="Picture 5"/>
          <p:cNvPicPr>
            <a:picLocks noChangeAspect="1" noChangeArrowheads="1"/>
          </p:cNvPicPr>
          <p:nvPr/>
        </p:nvPicPr>
        <p:blipFill>
          <a:blip r:embed="rId3" cstate="print"/>
          <a:srcRect/>
          <a:stretch>
            <a:fillRect/>
          </a:stretch>
        </p:blipFill>
        <p:spPr bwMode="auto">
          <a:xfrm>
            <a:off x="4673713" y="4876800"/>
            <a:ext cx="4470287" cy="1981200"/>
          </a:xfrm>
          <a:prstGeom prst="rect">
            <a:avLst/>
          </a:prstGeom>
          <a:noFill/>
          <a:ln w="9525">
            <a:noFill/>
            <a:miter lim="800000"/>
            <a:headEnd/>
            <a:tailEnd/>
          </a:ln>
        </p:spPr>
      </p:pic>
      <p:pic>
        <p:nvPicPr>
          <p:cNvPr id="9218" name="Picture 2"/>
          <p:cNvPicPr>
            <a:picLocks noChangeAspect="1" noChangeArrowheads="1"/>
          </p:cNvPicPr>
          <p:nvPr/>
        </p:nvPicPr>
        <p:blipFill>
          <a:blip r:embed="rId4" cstate="print"/>
          <a:srcRect/>
          <a:stretch>
            <a:fillRect/>
          </a:stretch>
        </p:blipFill>
        <p:spPr bwMode="auto">
          <a:xfrm>
            <a:off x="1" y="685801"/>
            <a:ext cx="4419600" cy="2133600"/>
          </a:xfrm>
          <a:prstGeom prst="rect">
            <a:avLst/>
          </a:prstGeom>
          <a:noFill/>
          <a:ln w="9525">
            <a:noFill/>
            <a:miter lim="800000"/>
            <a:headEnd/>
            <a:tailEnd/>
          </a:ln>
        </p:spPr>
      </p:pic>
      <p:pic>
        <p:nvPicPr>
          <p:cNvPr id="9219" name="Picture 3"/>
          <p:cNvPicPr>
            <a:picLocks noGrp="1" noChangeAspect="1" noChangeArrowheads="1"/>
          </p:cNvPicPr>
          <p:nvPr>
            <p:ph idx="1"/>
          </p:nvPr>
        </p:nvPicPr>
        <p:blipFill>
          <a:blip r:embed="rId5" cstate="print"/>
          <a:srcRect/>
          <a:stretch>
            <a:fillRect/>
          </a:stretch>
        </p:blipFill>
        <p:spPr bwMode="auto">
          <a:xfrm>
            <a:off x="0" y="2819400"/>
            <a:ext cx="4419600" cy="2048496"/>
          </a:xfrm>
          <a:prstGeom prst="rect">
            <a:avLst/>
          </a:prstGeom>
          <a:noFill/>
          <a:ln w="9525">
            <a:noFill/>
            <a:miter lim="800000"/>
            <a:headEnd/>
            <a:tailEnd/>
          </a:ln>
        </p:spPr>
      </p:pic>
      <p:pic>
        <p:nvPicPr>
          <p:cNvPr id="9220" name="Picture 4"/>
          <p:cNvPicPr>
            <a:picLocks noChangeAspect="1" noChangeArrowheads="1"/>
          </p:cNvPicPr>
          <p:nvPr/>
        </p:nvPicPr>
        <p:blipFill>
          <a:blip r:embed="rId6" cstate="print"/>
          <a:srcRect/>
          <a:stretch>
            <a:fillRect/>
          </a:stretch>
        </p:blipFill>
        <p:spPr bwMode="auto">
          <a:xfrm>
            <a:off x="4724400" y="2895600"/>
            <a:ext cx="4419600" cy="1981200"/>
          </a:xfrm>
          <a:prstGeom prst="rect">
            <a:avLst/>
          </a:prstGeom>
          <a:noFill/>
          <a:ln w="9525">
            <a:noFill/>
            <a:miter lim="800000"/>
            <a:headEnd/>
            <a:tailEnd/>
          </a:ln>
        </p:spPr>
      </p:pic>
      <p:sp>
        <p:nvSpPr>
          <p:cNvPr id="9" name="Rounded Rectangle 8"/>
          <p:cNvSpPr/>
          <p:nvPr/>
        </p:nvSpPr>
        <p:spPr>
          <a:xfrm>
            <a:off x="5257800" y="228600"/>
            <a:ext cx="2438400" cy="457200"/>
          </a:xfrm>
          <a:prstGeom prst="roundRect">
            <a:avLst/>
          </a:prstGeom>
          <a:solidFill>
            <a:schemeClr val="accent6">
              <a:lumMod val="60000"/>
              <a:lumOff val="40000"/>
              <a:alpha val="20000"/>
            </a:schemeClr>
          </a:solidFill>
          <a:ln w="508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p:cNvPicPr>
            <a:picLocks noChangeAspect="1" noChangeArrowheads="1"/>
          </p:cNvPicPr>
          <p:nvPr/>
        </p:nvPicPr>
        <p:blipFill>
          <a:blip r:embed="rId7" cstate="print"/>
          <a:srcRect/>
          <a:stretch>
            <a:fillRect/>
          </a:stretch>
        </p:blipFill>
        <p:spPr bwMode="auto">
          <a:xfrm>
            <a:off x="4648200" y="609600"/>
            <a:ext cx="4343400" cy="2133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pPr algn="l"/>
            <a:r>
              <a:rPr lang="en-US" sz="2000" dirty="0" smtClean="0"/>
              <a:t>20 Hemophilia                                                       21 Ice Sheets PW=BE</a:t>
            </a:r>
            <a:endParaRPr lang="en-US" sz="2000" dirty="0"/>
          </a:p>
        </p:txBody>
      </p:sp>
      <p:pic>
        <p:nvPicPr>
          <p:cNvPr id="11267" name="Picture 3"/>
          <p:cNvPicPr>
            <a:picLocks noChangeAspect="1" noChangeArrowheads="1"/>
          </p:cNvPicPr>
          <p:nvPr/>
        </p:nvPicPr>
        <p:blipFill>
          <a:blip r:embed="rId2" cstate="print"/>
          <a:srcRect/>
          <a:stretch>
            <a:fillRect/>
          </a:stretch>
        </p:blipFill>
        <p:spPr bwMode="auto">
          <a:xfrm>
            <a:off x="0" y="4724400"/>
            <a:ext cx="4267200" cy="2133600"/>
          </a:xfrm>
          <a:prstGeom prst="rect">
            <a:avLst/>
          </a:prstGeom>
          <a:noFill/>
          <a:ln w="9525">
            <a:noFill/>
            <a:miter lim="800000"/>
            <a:headEnd/>
            <a:tailEnd/>
          </a:ln>
        </p:spPr>
      </p:pic>
      <p:pic>
        <p:nvPicPr>
          <p:cNvPr id="11269" name="Picture 5"/>
          <p:cNvPicPr>
            <a:picLocks noChangeAspect="1" noChangeArrowheads="1"/>
          </p:cNvPicPr>
          <p:nvPr/>
        </p:nvPicPr>
        <p:blipFill>
          <a:blip r:embed="rId3" cstate="print"/>
          <a:srcRect/>
          <a:stretch>
            <a:fillRect/>
          </a:stretch>
        </p:blipFill>
        <p:spPr bwMode="auto">
          <a:xfrm>
            <a:off x="4618077" y="4724400"/>
            <a:ext cx="4525924" cy="2133601"/>
          </a:xfrm>
          <a:prstGeom prst="rect">
            <a:avLst/>
          </a:prstGeom>
          <a:noFill/>
          <a:ln w="9525">
            <a:noFill/>
            <a:miter lim="800000"/>
            <a:headEnd/>
            <a:tailEnd/>
          </a:ln>
        </p:spPr>
      </p:pic>
      <p:pic>
        <p:nvPicPr>
          <p:cNvPr id="10243" name="Picture 3"/>
          <p:cNvPicPr>
            <a:picLocks noChangeAspect="1" noChangeArrowheads="1"/>
          </p:cNvPicPr>
          <p:nvPr/>
        </p:nvPicPr>
        <p:blipFill>
          <a:blip r:embed="rId4" cstate="print"/>
          <a:srcRect/>
          <a:stretch>
            <a:fillRect/>
          </a:stretch>
        </p:blipFill>
        <p:spPr bwMode="auto">
          <a:xfrm>
            <a:off x="1" y="2667000"/>
            <a:ext cx="4267199" cy="1995488"/>
          </a:xfrm>
          <a:prstGeom prst="rect">
            <a:avLst/>
          </a:prstGeom>
          <a:noFill/>
          <a:ln w="9525">
            <a:noFill/>
            <a:miter lim="800000"/>
            <a:headEnd/>
            <a:tailEnd/>
          </a:ln>
        </p:spPr>
      </p:pic>
      <p:pic>
        <p:nvPicPr>
          <p:cNvPr id="10244" name="Picture 4"/>
          <p:cNvPicPr>
            <a:picLocks noChangeAspect="1" noChangeArrowheads="1"/>
          </p:cNvPicPr>
          <p:nvPr/>
        </p:nvPicPr>
        <p:blipFill>
          <a:blip r:embed="rId5" cstate="print"/>
          <a:srcRect/>
          <a:stretch>
            <a:fillRect/>
          </a:stretch>
        </p:blipFill>
        <p:spPr bwMode="auto">
          <a:xfrm>
            <a:off x="4648200" y="2667000"/>
            <a:ext cx="4495800" cy="2085975"/>
          </a:xfrm>
          <a:prstGeom prst="rect">
            <a:avLst/>
          </a:prstGeom>
          <a:noFill/>
          <a:ln w="9525">
            <a:noFill/>
            <a:miter lim="800000"/>
            <a:headEnd/>
            <a:tailEnd/>
          </a:ln>
        </p:spPr>
      </p:pic>
      <p:pic>
        <p:nvPicPr>
          <p:cNvPr id="10245" name="Picture 5"/>
          <p:cNvPicPr>
            <a:picLocks noChangeAspect="1" noChangeArrowheads="1"/>
          </p:cNvPicPr>
          <p:nvPr/>
        </p:nvPicPr>
        <p:blipFill>
          <a:blip r:embed="rId6" cstate="print"/>
          <a:srcRect/>
          <a:stretch>
            <a:fillRect/>
          </a:stretch>
        </p:blipFill>
        <p:spPr bwMode="auto">
          <a:xfrm>
            <a:off x="4648200" y="685800"/>
            <a:ext cx="4495800" cy="1981200"/>
          </a:xfrm>
          <a:prstGeom prst="rect">
            <a:avLst/>
          </a:prstGeom>
          <a:noFill/>
          <a:ln w="9525">
            <a:noFill/>
            <a:miter lim="800000"/>
            <a:headEnd/>
            <a:tailEnd/>
          </a:ln>
        </p:spPr>
      </p:pic>
      <p:sp>
        <p:nvSpPr>
          <p:cNvPr id="9" name="Rounded Rectangle 8"/>
          <p:cNvSpPr/>
          <p:nvPr/>
        </p:nvSpPr>
        <p:spPr>
          <a:xfrm>
            <a:off x="4876800" y="228600"/>
            <a:ext cx="3352800" cy="381000"/>
          </a:xfrm>
          <a:prstGeom prst="roundRect">
            <a:avLst/>
          </a:prstGeom>
          <a:solidFill>
            <a:schemeClr val="accent6">
              <a:lumMod val="60000"/>
              <a:lumOff val="40000"/>
              <a:alpha val="20000"/>
            </a:schemeClr>
          </a:solidFill>
          <a:ln w="508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200" dirty="0" smtClean="0">
                <a:solidFill>
                  <a:schemeClr val="tx1"/>
                </a:solidFill>
              </a:rPr>
              <a:t> 2012 </a:t>
            </a:r>
          </a:p>
          <a:p>
            <a:endParaRPr lang="en-US" dirty="0">
              <a:solidFill>
                <a:schemeClr val="tx1"/>
              </a:solidFill>
            </a:endParaRPr>
          </a:p>
        </p:txBody>
      </p:sp>
      <p:pic>
        <p:nvPicPr>
          <p:cNvPr id="2050" name="Picture 2"/>
          <p:cNvPicPr>
            <a:picLocks noChangeAspect="1" noChangeArrowheads="1"/>
          </p:cNvPicPr>
          <p:nvPr/>
        </p:nvPicPr>
        <p:blipFill>
          <a:blip r:embed="rId7" cstate="print"/>
          <a:srcRect/>
          <a:stretch>
            <a:fillRect/>
          </a:stretch>
        </p:blipFill>
        <p:spPr bwMode="auto">
          <a:xfrm>
            <a:off x="0" y="609600"/>
            <a:ext cx="4267200" cy="2133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pPr algn="l"/>
            <a:r>
              <a:rPr lang="en-US" sz="2000" dirty="0" smtClean="0"/>
              <a:t> 22 Illinois                                                                     23 </a:t>
            </a:r>
            <a:r>
              <a:rPr lang="en-US" sz="2000" dirty="0" err="1" smtClean="0"/>
              <a:t>Liander</a:t>
            </a:r>
            <a:endParaRPr lang="en-US" sz="2000" dirty="0"/>
          </a:p>
        </p:txBody>
      </p:sp>
      <p:pic>
        <p:nvPicPr>
          <p:cNvPr id="12291" name="Picture 3"/>
          <p:cNvPicPr>
            <a:picLocks noChangeAspect="1" noChangeArrowheads="1"/>
          </p:cNvPicPr>
          <p:nvPr/>
        </p:nvPicPr>
        <p:blipFill>
          <a:blip r:embed="rId2" cstate="print"/>
          <a:srcRect/>
          <a:stretch>
            <a:fillRect/>
          </a:stretch>
        </p:blipFill>
        <p:spPr bwMode="auto">
          <a:xfrm>
            <a:off x="1" y="4724400"/>
            <a:ext cx="4495800" cy="2133600"/>
          </a:xfrm>
          <a:prstGeom prst="rect">
            <a:avLst/>
          </a:prstGeom>
          <a:noFill/>
          <a:ln w="9525">
            <a:noFill/>
            <a:miter lim="800000"/>
            <a:headEnd/>
            <a:tailEnd/>
          </a:ln>
        </p:spPr>
      </p:pic>
      <p:pic>
        <p:nvPicPr>
          <p:cNvPr id="12293" name="Picture 5"/>
          <p:cNvPicPr>
            <a:picLocks noChangeAspect="1" noChangeArrowheads="1"/>
          </p:cNvPicPr>
          <p:nvPr/>
        </p:nvPicPr>
        <p:blipFill>
          <a:blip r:embed="rId3" cstate="print"/>
          <a:srcRect/>
          <a:stretch>
            <a:fillRect/>
          </a:stretch>
        </p:blipFill>
        <p:spPr bwMode="auto">
          <a:xfrm>
            <a:off x="4572000" y="4724400"/>
            <a:ext cx="4572000" cy="2133600"/>
          </a:xfrm>
          <a:prstGeom prst="rect">
            <a:avLst/>
          </a:prstGeom>
          <a:noFill/>
          <a:ln w="9525">
            <a:noFill/>
            <a:miter lim="800000"/>
            <a:headEnd/>
            <a:tailEnd/>
          </a:ln>
        </p:spPr>
      </p:pic>
      <p:pic>
        <p:nvPicPr>
          <p:cNvPr id="11266" name="Picture 2"/>
          <p:cNvPicPr>
            <a:picLocks noChangeAspect="1" noChangeArrowheads="1"/>
          </p:cNvPicPr>
          <p:nvPr/>
        </p:nvPicPr>
        <p:blipFill>
          <a:blip r:embed="rId4" cstate="print"/>
          <a:srcRect/>
          <a:stretch>
            <a:fillRect/>
          </a:stretch>
        </p:blipFill>
        <p:spPr bwMode="auto">
          <a:xfrm>
            <a:off x="1" y="2743200"/>
            <a:ext cx="4495799" cy="1995488"/>
          </a:xfrm>
          <a:prstGeom prst="rect">
            <a:avLst/>
          </a:prstGeom>
          <a:noFill/>
          <a:ln w="9525">
            <a:noFill/>
            <a:miter lim="800000"/>
            <a:headEnd/>
            <a:tailEnd/>
          </a:ln>
        </p:spPr>
      </p:pic>
      <p:pic>
        <p:nvPicPr>
          <p:cNvPr id="11267" name="Picture 3"/>
          <p:cNvPicPr>
            <a:picLocks noChangeAspect="1" noChangeArrowheads="1"/>
          </p:cNvPicPr>
          <p:nvPr/>
        </p:nvPicPr>
        <p:blipFill>
          <a:blip r:embed="rId5" cstate="print"/>
          <a:srcRect/>
          <a:stretch>
            <a:fillRect/>
          </a:stretch>
        </p:blipFill>
        <p:spPr bwMode="auto">
          <a:xfrm>
            <a:off x="0" y="762000"/>
            <a:ext cx="4495800" cy="1981200"/>
          </a:xfrm>
          <a:prstGeom prst="rect">
            <a:avLst/>
          </a:prstGeom>
          <a:noFill/>
          <a:ln w="9525">
            <a:noFill/>
            <a:miter lim="800000"/>
            <a:headEnd/>
            <a:tailEnd/>
          </a:ln>
        </p:spPr>
      </p:pic>
      <p:pic>
        <p:nvPicPr>
          <p:cNvPr id="11268" name="Picture 4"/>
          <p:cNvPicPr>
            <a:picLocks noChangeAspect="1" noChangeArrowheads="1"/>
          </p:cNvPicPr>
          <p:nvPr/>
        </p:nvPicPr>
        <p:blipFill>
          <a:blip r:embed="rId6" cstate="print"/>
          <a:srcRect/>
          <a:stretch>
            <a:fillRect/>
          </a:stretch>
        </p:blipFill>
        <p:spPr bwMode="auto">
          <a:xfrm>
            <a:off x="4572000" y="762001"/>
            <a:ext cx="4571999" cy="1981200"/>
          </a:xfrm>
          <a:prstGeom prst="rect">
            <a:avLst/>
          </a:prstGeom>
          <a:noFill/>
          <a:ln w="9525">
            <a:noFill/>
            <a:miter lim="800000"/>
            <a:headEnd/>
            <a:tailEnd/>
          </a:ln>
        </p:spPr>
      </p:pic>
      <p:pic>
        <p:nvPicPr>
          <p:cNvPr id="11269" name="Picture 5"/>
          <p:cNvPicPr>
            <a:picLocks noChangeAspect="1" noChangeArrowheads="1"/>
          </p:cNvPicPr>
          <p:nvPr/>
        </p:nvPicPr>
        <p:blipFill>
          <a:blip r:embed="rId7" cstate="print"/>
          <a:srcRect/>
          <a:stretch>
            <a:fillRect/>
          </a:stretch>
        </p:blipFill>
        <p:spPr bwMode="auto">
          <a:xfrm>
            <a:off x="4543425" y="2743200"/>
            <a:ext cx="4600575" cy="19192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411162"/>
          </a:xfrm>
        </p:spPr>
        <p:txBody>
          <a:bodyPr/>
          <a:lstStyle/>
          <a:p>
            <a:pPr algn="l"/>
            <a:r>
              <a:rPr lang="en-US" sz="2000" dirty="0" smtClean="0"/>
              <a:t>24 Nebraska  PW=BE                                            25 Obesity PW=BE</a:t>
            </a:r>
            <a:endParaRPr lang="en-US" sz="2000" dirty="0"/>
          </a:p>
        </p:txBody>
      </p:sp>
      <p:pic>
        <p:nvPicPr>
          <p:cNvPr id="1027" name="Picture 3"/>
          <p:cNvPicPr>
            <a:picLocks noChangeAspect="1" noChangeArrowheads="1"/>
          </p:cNvPicPr>
          <p:nvPr/>
        </p:nvPicPr>
        <p:blipFill>
          <a:blip r:embed="rId2" cstate="print"/>
          <a:srcRect/>
          <a:stretch>
            <a:fillRect/>
          </a:stretch>
        </p:blipFill>
        <p:spPr bwMode="auto">
          <a:xfrm>
            <a:off x="0" y="4876800"/>
            <a:ext cx="4601766" cy="1981200"/>
          </a:xfrm>
          <a:prstGeom prst="rect">
            <a:avLst/>
          </a:prstGeom>
          <a:noFill/>
          <a:ln w="9525">
            <a:noFill/>
            <a:miter lim="800000"/>
            <a:headEnd/>
            <a:tailEnd/>
          </a:ln>
        </p:spPr>
      </p:pic>
      <p:pic>
        <p:nvPicPr>
          <p:cNvPr id="1029" name="Picture 5"/>
          <p:cNvPicPr>
            <a:picLocks noChangeAspect="1" noChangeArrowheads="1"/>
          </p:cNvPicPr>
          <p:nvPr/>
        </p:nvPicPr>
        <p:blipFill>
          <a:blip r:embed="rId3" cstate="print"/>
          <a:srcRect/>
          <a:stretch>
            <a:fillRect/>
          </a:stretch>
        </p:blipFill>
        <p:spPr bwMode="auto">
          <a:xfrm>
            <a:off x="4525051" y="4876799"/>
            <a:ext cx="4618949" cy="1981201"/>
          </a:xfrm>
          <a:prstGeom prst="rect">
            <a:avLst/>
          </a:prstGeom>
          <a:noFill/>
          <a:ln w="9525">
            <a:noFill/>
            <a:miter lim="800000"/>
            <a:headEnd/>
            <a:tailEnd/>
          </a:ln>
        </p:spPr>
      </p:pic>
      <p:pic>
        <p:nvPicPr>
          <p:cNvPr id="12290" name="Picture 2"/>
          <p:cNvPicPr>
            <a:picLocks noChangeAspect="1" noChangeArrowheads="1"/>
          </p:cNvPicPr>
          <p:nvPr/>
        </p:nvPicPr>
        <p:blipFill>
          <a:blip r:embed="rId4" cstate="print"/>
          <a:srcRect/>
          <a:stretch>
            <a:fillRect/>
          </a:stretch>
        </p:blipFill>
        <p:spPr bwMode="auto">
          <a:xfrm>
            <a:off x="0" y="2971800"/>
            <a:ext cx="4495800" cy="1919288"/>
          </a:xfrm>
          <a:prstGeom prst="rect">
            <a:avLst/>
          </a:prstGeom>
          <a:noFill/>
          <a:ln w="9525">
            <a:noFill/>
            <a:miter lim="800000"/>
            <a:headEnd/>
            <a:tailEnd/>
          </a:ln>
        </p:spPr>
      </p:pic>
      <p:pic>
        <p:nvPicPr>
          <p:cNvPr id="12291" name="Picture 3"/>
          <p:cNvPicPr>
            <a:picLocks noChangeAspect="1" noChangeArrowheads="1"/>
          </p:cNvPicPr>
          <p:nvPr/>
        </p:nvPicPr>
        <p:blipFill>
          <a:blip r:embed="rId5" cstate="print"/>
          <a:srcRect/>
          <a:stretch>
            <a:fillRect/>
          </a:stretch>
        </p:blipFill>
        <p:spPr bwMode="auto">
          <a:xfrm>
            <a:off x="1" y="685800"/>
            <a:ext cx="4495800" cy="2209800"/>
          </a:xfrm>
          <a:prstGeom prst="rect">
            <a:avLst/>
          </a:prstGeom>
          <a:noFill/>
          <a:ln w="9525">
            <a:noFill/>
            <a:miter lim="800000"/>
            <a:headEnd/>
            <a:tailEnd/>
          </a:ln>
        </p:spPr>
      </p:pic>
      <p:pic>
        <p:nvPicPr>
          <p:cNvPr id="12292" name="Picture 4"/>
          <p:cNvPicPr>
            <a:picLocks noChangeAspect="1" noChangeArrowheads="1"/>
          </p:cNvPicPr>
          <p:nvPr/>
        </p:nvPicPr>
        <p:blipFill>
          <a:blip r:embed="rId6" cstate="print"/>
          <a:srcRect/>
          <a:stretch>
            <a:fillRect/>
          </a:stretch>
        </p:blipFill>
        <p:spPr bwMode="auto">
          <a:xfrm>
            <a:off x="4572000" y="685800"/>
            <a:ext cx="4572000" cy="2237043"/>
          </a:xfrm>
          <a:prstGeom prst="rect">
            <a:avLst/>
          </a:prstGeom>
          <a:noFill/>
          <a:ln w="9525">
            <a:noFill/>
            <a:miter lim="800000"/>
            <a:headEnd/>
            <a:tailEnd/>
          </a:ln>
        </p:spPr>
      </p:pic>
      <p:pic>
        <p:nvPicPr>
          <p:cNvPr id="12293" name="Picture 5"/>
          <p:cNvPicPr>
            <a:picLocks noChangeAspect="1" noChangeArrowheads="1"/>
          </p:cNvPicPr>
          <p:nvPr/>
        </p:nvPicPr>
        <p:blipFill>
          <a:blip r:embed="rId7" cstate="print"/>
          <a:srcRect/>
          <a:stretch>
            <a:fillRect/>
          </a:stretch>
        </p:blipFill>
        <p:spPr bwMode="auto">
          <a:xfrm>
            <a:off x="4543425" y="2971800"/>
            <a:ext cx="4600575" cy="1843088"/>
          </a:xfrm>
          <a:prstGeom prst="rect">
            <a:avLst/>
          </a:prstGeom>
          <a:noFill/>
          <a:ln w="9525">
            <a:noFill/>
            <a:miter lim="800000"/>
            <a:headEnd/>
            <a:tailEnd/>
          </a:ln>
        </p:spPr>
      </p:pic>
      <p:sp>
        <p:nvSpPr>
          <p:cNvPr id="9" name="Rounded Rectangle 8"/>
          <p:cNvSpPr/>
          <p:nvPr/>
        </p:nvSpPr>
        <p:spPr>
          <a:xfrm>
            <a:off x="304800" y="228600"/>
            <a:ext cx="2438400" cy="457200"/>
          </a:xfrm>
          <a:prstGeom prst="roundRect">
            <a:avLst/>
          </a:prstGeom>
          <a:solidFill>
            <a:schemeClr val="accent6">
              <a:lumMod val="60000"/>
              <a:lumOff val="40000"/>
              <a:alpha val="20000"/>
            </a:schemeClr>
          </a:solidFill>
          <a:ln w="508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4800600" y="304800"/>
            <a:ext cx="2438400" cy="457200"/>
          </a:xfrm>
          <a:prstGeom prst="roundRect">
            <a:avLst/>
          </a:prstGeom>
          <a:solidFill>
            <a:schemeClr val="accent6">
              <a:lumMod val="60000"/>
              <a:lumOff val="40000"/>
              <a:alpha val="20000"/>
            </a:schemeClr>
          </a:solidFill>
          <a:ln w="508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pPr algn="l"/>
            <a:r>
              <a:rPr lang="en-US" sz="2000" dirty="0" smtClean="0"/>
              <a:t>26 PHAC _2009_T4                                               27 San Diego</a:t>
            </a:r>
            <a:endParaRPr lang="en-US" sz="2000" dirty="0"/>
          </a:p>
        </p:txBody>
      </p:sp>
      <p:pic>
        <p:nvPicPr>
          <p:cNvPr id="2051" name="Picture 3"/>
          <p:cNvPicPr>
            <a:picLocks noChangeAspect="1" noChangeArrowheads="1"/>
          </p:cNvPicPr>
          <p:nvPr/>
        </p:nvPicPr>
        <p:blipFill>
          <a:blip r:embed="rId3" cstate="print"/>
          <a:srcRect/>
          <a:stretch>
            <a:fillRect/>
          </a:stretch>
        </p:blipFill>
        <p:spPr bwMode="auto">
          <a:xfrm>
            <a:off x="0" y="4953000"/>
            <a:ext cx="4419600" cy="1905000"/>
          </a:xfrm>
          <a:prstGeom prst="rect">
            <a:avLst/>
          </a:prstGeom>
          <a:noFill/>
          <a:ln w="9525">
            <a:noFill/>
            <a:miter lim="800000"/>
            <a:headEnd/>
            <a:tailEnd/>
          </a:ln>
        </p:spPr>
      </p:pic>
      <p:pic>
        <p:nvPicPr>
          <p:cNvPr id="2052" name="Picture 4"/>
          <p:cNvPicPr>
            <a:picLocks noChangeAspect="1" noChangeArrowheads="1"/>
          </p:cNvPicPr>
          <p:nvPr/>
        </p:nvPicPr>
        <p:blipFill>
          <a:blip r:embed="rId4" cstate="print"/>
          <a:srcRect/>
          <a:stretch>
            <a:fillRect/>
          </a:stretch>
        </p:blipFill>
        <p:spPr bwMode="auto">
          <a:xfrm>
            <a:off x="4800600" y="5029200"/>
            <a:ext cx="4343401" cy="1828800"/>
          </a:xfrm>
          <a:prstGeom prst="rect">
            <a:avLst/>
          </a:prstGeom>
          <a:noFill/>
          <a:ln w="9525">
            <a:noFill/>
            <a:miter lim="800000"/>
            <a:headEnd/>
            <a:tailEnd/>
          </a:ln>
        </p:spPr>
      </p:pic>
      <p:pic>
        <p:nvPicPr>
          <p:cNvPr id="1026" name="Picture 2"/>
          <p:cNvPicPr>
            <a:picLocks noChangeAspect="1" noChangeArrowheads="1"/>
          </p:cNvPicPr>
          <p:nvPr/>
        </p:nvPicPr>
        <p:blipFill>
          <a:blip r:embed="rId5" cstate="print"/>
          <a:srcRect/>
          <a:stretch>
            <a:fillRect/>
          </a:stretch>
        </p:blipFill>
        <p:spPr bwMode="auto">
          <a:xfrm>
            <a:off x="0" y="3276600"/>
            <a:ext cx="4419600" cy="1641475"/>
          </a:xfrm>
          <a:prstGeom prst="rect">
            <a:avLst/>
          </a:prstGeom>
          <a:noFill/>
          <a:ln w="9525">
            <a:noFill/>
            <a:miter lim="800000"/>
            <a:headEnd/>
            <a:tailEnd/>
          </a:ln>
        </p:spPr>
      </p:pic>
      <p:pic>
        <p:nvPicPr>
          <p:cNvPr id="3" name="Picture 2"/>
          <p:cNvPicPr>
            <a:picLocks noChangeAspect="1" noChangeArrowheads="1"/>
          </p:cNvPicPr>
          <p:nvPr/>
        </p:nvPicPr>
        <p:blipFill>
          <a:blip r:embed="rId6" cstate="print"/>
          <a:srcRect/>
          <a:stretch>
            <a:fillRect/>
          </a:stretch>
        </p:blipFill>
        <p:spPr bwMode="auto">
          <a:xfrm>
            <a:off x="0" y="685800"/>
            <a:ext cx="4436099" cy="2514600"/>
          </a:xfrm>
          <a:prstGeom prst="rect">
            <a:avLst/>
          </a:prstGeom>
          <a:noFill/>
          <a:ln w="9525">
            <a:noFill/>
            <a:miter lim="800000"/>
            <a:headEnd/>
            <a:tailEnd/>
          </a:ln>
        </p:spPr>
      </p:pic>
      <p:pic>
        <p:nvPicPr>
          <p:cNvPr id="1027" name="Picture 3"/>
          <p:cNvPicPr>
            <a:picLocks noChangeAspect="1" noChangeArrowheads="1"/>
          </p:cNvPicPr>
          <p:nvPr/>
        </p:nvPicPr>
        <p:blipFill>
          <a:blip r:embed="rId7" cstate="print"/>
          <a:srcRect/>
          <a:stretch>
            <a:fillRect/>
          </a:stretch>
        </p:blipFill>
        <p:spPr bwMode="auto">
          <a:xfrm>
            <a:off x="4724401" y="3291091"/>
            <a:ext cx="4419600" cy="1738109"/>
          </a:xfrm>
          <a:prstGeom prst="rect">
            <a:avLst/>
          </a:prstGeom>
          <a:noFill/>
          <a:ln w="9525">
            <a:noFill/>
            <a:miter lim="800000"/>
            <a:headEnd/>
            <a:tailEnd/>
          </a:ln>
        </p:spPr>
      </p:pic>
      <p:pic>
        <p:nvPicPr>
          <p:cNvPr id="3074" name="Picture 2"/>
          <p:cNvPicPr>
            <a:picLocks noChangeAspect="1" noChangeArrowheads="1"/>
          </p:cNvPicPr>
          <p:nvPr/>
        </p:nvPicPr>
        <p:blipFill>
          <a:blip r:embed="rId8" cstate="print"/>
          <a:srcRect/>
          <a:stretch>
            <a:fillRect/>
          </a:stretch>
        </p:blipFill>
        <p:spPr bwMode="auto">
          <a:xfrm>
            <a:off x="4716817" y="609600"/>
            <a:ext cx="4427183" cy="2667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pPr algn="l"/>
            <a:r>
              <a:rPr lang="en-US" sz="2000" dirty="0" smtClean="0"/>
              <a:t>28 </a:t>
            </a:r>
            <a:r>
              <a:rPr lang="en-US" sz="2000" dirty="0" err="1" smtClean="0"/>
              <a:t>Sheep_Scab</a:t>
            </a:r>
            <a:r>
              <a:rPr lang="en-US" sz="2000" dirty="0" smtClean="0"/>
              <a:t> PW=BE                                                                  29 Speed</a:t>
            </a:r>
            <a:endParaRPr lang="en-US" sz="2000" dirty="0"/>
          </a:p>
        </p:txBody>
      </p:sp>
      <p:pic>
        <p:nvPicPr>
          <p:cNvPr id="3075" name="Picture 3"/>
          <p:cNvPicPr>
            <a:picLocks noChangeAspect="1" noChangeArrowheads="1"/>
          </p:cNvPicPr>
          <p:nvPr/>
        </p:nvPicPr>
        <p:blipFill>
          <a:blip r:embed="rId2" cstate="print"/>
          <a:srcRect/>
          <a:stretch>
            <a:fillRect/>
          </a:stretch>
        </p:blipFill>
        <p:spPr bwMode="auto">
          <a:xfrm>
            <a:off x="0" y="4648200"/>
            <a:ext cx="4540409" cy="2209800"/>
          </a:xfrm>
          <a:prstGeom prst="rect">
            <a:avLst/>
          </a:prstGeom>
          <a:noFill/>
          <a:ln w="9525">
            <a:noFill/>
            <a:miter lim="800000"/>
            <a:headEnd/>
            <a:tailEnd/>
          </a:ln>
        </p:spPr>
      </p:pic>
      <p:pic>
        <p:nvPicPr>
          <p:cNvPr id="3077" name="Picture 5"/>
          <p:cNvPicPr>
            <a:picLocks noChangeAspect="1" noChangeArrowheads="1"/>
          </p:cNvPicPr>
          <p:nvPr/>
        </p:nvPicPr>
        <p:blipFill>
          <a:blip r:embed="rId3" cstate="print"/>
          <a:srcRect/>
          <a:stretch>
            <a:fillRect/>
          </a:stretch>
        </p:blipFill>
        <p:spPr bwMode="auto">
          <a:xfrm>
            <a:off x="4618076" y="4648200"/>
            <a:ext cx="4525924" cy="2209800"/>
          </a:xfrm>
          <a:prstGeom prst="rect">
            <a:avLst/>
          </a:prstGeom>
          <a:noFill/>
          <a:ln w="9525">
            <a:noFill/>
            <a:miter lim="800000"/>
            <a:headEnd/>
            <a:tailEnd/>
          </a:ln>
        </p:spPr>
      </p:pic>
      <p:pic>
        <p:nvPicPr>
          <p:cNvPr id="2050" name="Picture 2"/>
          <p:cNvPicPr>
            <a:picLocks noChangeAspect="1" noChangeArrowheads="1"/>
          </p:cNvPicPr>
          <p:nvPr/>
        </p:nvPicPr>
        <p:blipFill>
          <a:blip r:embed="rId4" cstate="print"/>
          <a:srcRect/>
          <a:stretch>
            <a:fillRect/>
          </a:stretch>
        </p:blipFill>
        <p:spPr bwMode="auto">
          <a:xfrm>
            <a:off x="0" y="685800"/>
            <a:ext cx="4495800" cy="2133600"/>
          </a:xfrm>
          <a:prstGeom prst="rect">
            <a:avLst/>
          </a:prstGeom>
          <a:noFill/>
          <a:ln w="9525">
            <a:noFill/>
            <a:miter lim="800000"/>
            <a:headEnd/>
            <a:tailEnd/>
          </a:ln>
        </p:spPr>
      </p:pic>
      <p:pic>
        <p:nvPicPr>
          <p:cNvPr id="2052" name="Picture 4"/>
          <p:cNvPicPr>
            <a:picLocks noChangeAspect="1" noChangeArrowheads="1"/>
          </p:cNvPicPr>
          <p:nvPr/>
        </p:nvPicPr>
        <p:blipFill>
          <a:blip r:embed="rId5" cstate="print"/>
          <a:srcRect/>
          <a:stretch>
            <a:fillRect/>
          </a:stretch>
        </p:blipFill>
        <p:spPr bwMode="auto">
          <a:xfrm>
            <a:off x="0" y="2819400"/>
            <a:ext cx="4495800" cy="1793875"/>
          </a:xfrm>
          <a:prstGeom prst="rect">
            <a:avLst/>
          </a:prstGeom>
          <a:noFill/>
          <a:ln w="9525">
            <a:noFill/>
            <a:miter lim="800000"/>
            <a:headEnd/>
            <a:tailEnd/>
          </a:ln>
        </p:spPr>
      </p:pic>
      <p:pic>
        <p:nvPicPr>
          <p:cNvPr id="2053" name="Picture 5"/>
          <p:cNvPicPr>
            <a:picLocks noChangeAspect="1" noChangeArrowheads="1"/>
          </p:cNvPicPr>
          <p:nvPr/>
        </p:nvPicPr>
        <p:blipFill>
          <a:blip r:embed="rId6" cstate="print"/>
          <a:srcRect/>
          <a:stretch>
            <a:fillRect/>
          </a:stretch>
        </p:blipFill>
        <p:spPr bwMode="auto">
          <a:xfrm>
            <a:off x="4648201" y="2743200"/>
            <a:ext cx="4495800" cy="1836737"/>
          </a:xfrm>
          <a:prstGeom prst="rect">
            <a:avLst/>
          </a:prstGeom>
          <a:noFill/>
          <a:ln w="9525">
            <a:noFill/>
            <a:miter lim="800000"/>
            <a:headEnd/>
            <a:tailEnd/>
          </a:ln>
        </p:spPr>
      </p:pic>
      <p:pic>
        <p:nvPicPr>
          <p:cNvPr id="2054" name="Picture 6"/>
          <p:cNvPicPr>
            <a:picLocks noChangeAspect="1" noChangeArrowheads="1"/>
          </p:cNvPicPr>
          <p:nvPr/>
        </p:nvPicPr>
        <p:blipFill>
          <a:blip r:embed="rId7" cstate="print"/>
          <a:srcRect/>
          <a:stretch>
            <a:fillRect/>
          </a:stretch>
        </p:blipFill>
        <p:spPr bwMode="auto">
          <a:xfrm>
            <a:off x="4648201" y="762000"/>
            <a:ext cx="4495800" cy="1997075"/>
          </a:xfrm>
          <a:prstGeom prst="rect">
            <a:avLst/>
          </a:prstGeom>
          <a:noFill/>
          <a:ln w="9525">
            <a:noFill/>
            <a:miter lim="800000"/>
            <a:headEnd/>
            <a:tailEnd/>
          </a:ln>
        </p:spPr>
      </p:pic>
      <p:sp>
        <p:nvSpPr>
          <p:cNvPr id="9" name="Rounded Rectangle 8"/>
          <p:cNvSpPr/>
          <p:nvPr/>
        </p:nvSpPr>
        <p:spPr>
          <a:xfrm>
            <a:off x="457200" y="228600"/>
            <a:ext cx="2438400" cy="457200"/>
          </a:xfrm>
          <a:prstGeom prst="roundRect">
            <a:avLst/>
          </a:prstGeom>
          <a:solidFill>
            <a:schemeClr val="accent6">
              <a:lumMod val="60000"/>
              <a:lumOff val="40000"/>
              <a:alpha val="20000"/>
            </a:schemeClr>
          </a:solidFill>
          <a:ln w="508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pPr algn="l"/>
            <a:r>
              <a:rPr lang="en-US" sz="2000" dirty="0" smtClean="0"/>
              <a:t>30 TDC  PW=BE                                                   31 Tobacco PW=BE </a:t>
            </a:r>
            <a:endParaRPr lang="en-US" sz="2000" dirty="0"/>
          </a:p>
        </p:txBody>
      </p:sp>
      <p:pic>
        <p:nvPicPr>
          <p:cNvPr id="4099" name="Picture 3"/>
          <p:cNvPicPr>
            <a:picLocks noChangeAspect="1" noChangeArrowheads="1"/>
          </p:cNvPicPr>
          <p:nvPr/>
        </p:nvPicPr>
        <p:blipFill>
          <a:blip r:embed="rId2" cstate="print"/>
          <a:srcRect/>
          <a:stretch>
            <a:fillRect/>
          </a:stretch>
        </p:blipFill>
        <p:spPr bwMode="auto">
          <a:xfrm>
            <a:off x="0" y="4724400"/>
            <a:ext cx="4495800" cy="2133600"/>
          </a:xfrm>
          <a:prstGeom prst="rect">
            <a:avLst/>
          </a:prstGeom>
          <a:noFill/>
          <a:ln w="9525">
            <a:noFill/>
            <a:miter lim="800000"/>
            <a:headEnd/>
            <a:tailEnd/>
          </a:ln>
        </p:spPr>
      </p:pic>
      <p:pic>
        <p:nvPicPr>
          <p:cNvPr id="4101" name="Picture 5"/>
          <p:cNvPicPr>
            <a:picLocks noChangeAspect="1" noChangeArrowheads="1"/>
          </p:cNvPicPr>
          <p:nvPr/>
        </p:nvPicPr>
        <p:blipFill>
          <a:blip r:embed="rId3" cstate="print"/>
          <a:srcRect/>
          <a:stretch>
            <a:fillRect/>
          </a:stretch>
        </p:blipFill>
        <p:spPr bwMode="auto">
          <a:xfrm>
            <a:off x="4724400" y="4724400"/>
            <a:ext cx="4419601" cy="2133600"/>
          </a:xfrm>
          <a:prstGeom prst="rect">
            <a:avLst/>
          </a:prstGeom>
          <a:noFill/>
          <a:ln w="9525">
            <a:noFill/>
            <a:miter lim="800000"/>
            <a:headEnd/>
            <a:tailEnd/>
          </a:ln>
        </p:spPr>
      </p:pic>
      <p:pic>
        <p:nvPicPr>
          <p:cNvPr id="3074" name="Picture 2"/>
          <p:cNvPicPr>
            <a:picLocks noChangeAspect="1" noChangeArrowheads="1"/>
          </p:cNvPicPr>
          <p:nvPr/>
        </p:nvPicPr>
        <p:blipFill>
          <a:blip r:embed="rId4" cstate="print"/>
          <a:srcRect/>
          <a:stretch>
            <a:fillRect/>
          </a:stretch>
        </p:blipFill>
        <p:spPr bwMode="auto">
          <a:xfrm>
            <a:off x="0" y="762000"/>
            <a:ext cx="4419600" cy="2087563"/>
          </a:xfrm>
          <a:prstGeom prst="rect">
            <a:avLst/>
          </a:prstGeom>
          <a:noFill/>
          <a:ln w="9525">
            <a:noFill/>
            <a:miter lim="800000"/>
            <a:headEnd/>
            <a:tailEnd/>
          </a:ln>
        </p:spPr>
      </p:pic>
      <p:pic>
        <p:nvPicPr>
          <p:cNvPr id="3075" name="Picture 3"/>
          <p:cNvPicPr>
            <a:picLocks noChangeAspect="1" noChangeArrowheads="1"/>
          </p:cNvPicPr>
          <p:nvPr/>
        </p:nvPicPr>
        <p:blipFill>
          <a:blip r:embed="rId5" cstate="print"/>
          <a:srcRect/>
          <a:stretch>
            <a:fillRect/>
          </a:stretch>
        </p:blipFill>
        <p:spPr bwMode="auto">
          <a:xfrm>
            <a:off x="0" y="2895600"/>
            <a:ext cx="4495800" cy="1793875"/>
          </a:xfrm>
          <a:prstGeom prst="rect">
            <a:avLst/>
          </a:prstGeom>
          <a:noFill/>
          <a:ln w="9525">
            <a:noFill/>
            <a:miter lim="800000"/>
            <a:headEnd/>
            <a:tailEnd/>
          </a:ln>
        </p:spPr>
      </p:pic>
      <p:pic>
        <p:nvPicPr>
          <p:cNvPr id="3076" name="Picture 4"/>
          <p:cNvPicPr>
            <a:picLocks noChangeAspect="1" noChangeArrowheads="1"/>
          </p:cNvPicPr>
          <p:nvPr/>
        </p:nvPicPr>
        <p:blipFill>
          <a:blip r:embed="rId6" cstate="print"/>
          <a:srcRect/>
          <a:stretch>
            <a:fillRect/>
          </a:stretch>
        </p:blipFill>
        <p:spPr bwMode="auto">
          <a:xfrm>
            <a:off x="4724401" y="2895600"/>
            <a:ext cx="4419600" cy="1760537"/>
          </a:xfrm>
          <a:prstGeom prst="rect">
            <a:avLst/>
          </a:prstGeom>
          <a:noFill/>
          <a:ln w="9525">
            <a:noFill/>
            <a:miter lim="800000"/>
            <a:headEnd/>
            <a:tailEnd/>
          </a:ln>
        </p:spPr>
      </p:pic>
      <p:pic>
        <p:nvPicPr>
          <p:cNvPr id="3077" name="Picture 5"/>
          <p:cNvPicPr>
            <a:picLocks noChangeAspect="1" noChangeArrowheads="1"/>
          </p:cNvPicPr>
          <p:nvPr/>
        </p:nvPicPr>
        <p:blipFill>
          <a:blip r:embed="rId7" cstate="print"/>
          <a:srcRect/>
          <a:stretch>
            <a:fillRect/>
          </a:stretch>
        </p:blipFill>
        <p:spPr bwMode="auto">
          <a:xfrm>
            <a:off x="4724401" y="685800"/>
            <a:ext cx="4419600" cy="2125663"/>
          </a:xfrm>
          <a:prstGeom prst="rect">
            <a:avLst/>
          </a:prstGeom>
          <a:noFill/>
          <a:ln w="9525">
            <a:noFill/>
            <a:miter lim="800000"/>
            <a:headEnd/>
            <a:tailEnd/>
          </a:ln>
        </p:spPr>
      </p:pic>
      <p:sp>
        <p:nvSpPr>
          <p:cNvPr id="9" name="Rounded Rectangle 8"/>
          <p:cNvSpPr/>
          <p:nvPr/>
        </p:nvSpPr>
        <p:spPr>
          <a:xfrm>
            <a:off x="304800" y="228600"/>
            <a:ext cx="2438400" cy="457200"/>
          </a:xfrm>
          <a:prstGeom prst="roundRect">
            <a:avLst/>
          </a:prstGeom>
          <a:solidFill>
            <a:schemeClr val="accent6">
              <a:lumMod val="60000"/>
              <a:lumOff val="40000"/>
              <a:alpha val="20000"/>
            </a:schemeClr>
          </a:solidFill>
          <a:ln w="508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4724400" y="228600"/>
            <a:ext cx="2438400" cy="457200"/>
          </a:xfrm>
          <a:prstGeom prst="roundRect">
            <a:avLst/>
          </a:prstGeom>
          <a:solidFill>
            <a:schemeClr val="accent6">
              <a:lumMod val="60000"/>
              <a:lumOff val="40000"/>
              <a:alpha val="20000"/>
            </a:schemeClr>
          </a:solidFill>
          <a:ln w="508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pPr algn="l"/>
            <a:r>
              <a:rPr lang="en-US" sz="2000" dirty="0" smtClean="0"/>
              <a:t>32 Topaz PW=BE                                                      33 </a:t>
            </a:r>
            <a:r>
              <a:rPr lang="en-US" sz="2000" dirty="0" err="1" smtClean="0"/>
              <a:t>UMD_Nremoval</a:t>
            </a:r>
            <a:r>
              <a:rPr lang="en-US" sz="2000" dirty="0" smtClean="0"/>
              <a:t> PW=BE</a:t>
            </a:r>
            <a:endParaRPr lang="en-US" sz="2000" dirty="0"/>
          </a:p>
        </p:txBody>
      </p:sp>
      <p:pic>
        <p:nvPicPr>
          <p:cNvPr id="5123" name="Picture 3"/>
          <p:cNvPicPr>
            <a:picLocks noChangeAspect="1" noChangeArrowheads="1"/>
          </p:cNvPicPr>
          <p:nvPr/>
        </p:nvPicPr>
        <p:blipFill>
          <a:blip r:embed="rId2" cstate="print"/>
          <a:srcRect/>
          <a:stretch>
            <a:fillRect/>
          </a:stretch>
        </p:blipFill>
        <p:spPr bwMode="auto">
          <a:xfrm>
            <a:off x="1" y="4648200"/>
            <a:ext cx="4495799" cy="2209801"/>
          </a:xfrm>
          <a:prstGeom prst="rect">
            <a:avLst/>
          </a:prstGeom>
          <a:noFill/>
          <a:ln w="9525">
            <a:noFill/>
            <a:miter lim="800000"/>
            <a:headEnd/>
            <a:tailEnd/>
          </a:ln>
        </p:spPr>
      </p:pic>
      <p:pic>
        <p:nvPicPr>
          <p:cNvPr id="5126" name="Picture 6"/>
          <p:cNvPicPr>
            <a:picLocks noChangeAspect="1" noChangeArrowheads="1"/>
          </p:cNvPicPr>
          <p:nvPr/>
        </p:nvPicPr>
        <p:blipFill>
          <a:blip r:embed="rId3" cstate="print"/>
          <a:srcRect/>
          <a:stretch>
            <a:fillRect/>
          </a:stretch>
        </p:blipFill>
        <p:spPr bwMode="auto">
          <a:xfrm>
            <a:off x="4969798" y="4648200"/>
            <a:ext cx="4174202" cy="2209800"/>
          </a:xfrm>
          <a:prstGeom prst="rect">
            <a:avLst/>
          </a:prstGeom>
          <a:noFill/>
          <a:ln w="9525">
            <a:noFill/>
            <a:miter lim="800000"/>
            <a:headEnd/>
            <a:tailEnd/>
          </a:ln>
        </p:spPr>
      </p:pic>
      <p:pic>
        <p:nvPicPr>
          <p:cNvPr id="4098" name="Picture 2"/>
          <p:cNvPicPr>
            <a:picLocks noChangeAspect="1" noChangeArrowheads="1"/>
          </p:cNvPicPr>
          <p:nvPr/>
        </p:nvPicPr>
        <p:blipFill>
          <a:blip r:embed="rId4" cstate="print"/>
          <a:srcRect/>
          <a:stretch>
            <a:fillRect/>
          </a:stretch>
        </p:blipFill>
        <p:spPr bwMode="auto">
          <a:xfrm>
            <a:off x="0" y="762000"/>
            <a:ext cx="4495800" cy="2125663"/>
          </a:xfrm>
          <a:prstGeom prst="rect">
            <a:avLst/>
          </a:prstGeom>
          <a:noFill/>
          <a:ln w="9525">
            <a:noFill/>
            <a:miter lim="800000"/>
            <a:headEnd/>
            <a:tailEnd/>
          </a:ln>
        </p:spPr>
      </p:pic>
      <p:pic>
        <p:nvPicPr>
          <p:cNvPr id="4099" name="Picture 3"/>
          <p:cNvPicPr>
            <a:picLocks noChangeAspect="1" noChangeArrowheads="1"/>
          </p:cNvPicPr>
          <p:nvPr/>
        </p:nvPicPr>
        <p:blipFill>
          <a:blip r:embed="rId5" cstate="print"/>
          <a:srcRect/>
          <a:stretch>
            <a:fillRect/>
          </a:stretch>
        </p:blipFill>
        <p:spPr bwMode="auto">
          <a:xfrm>
            <a:off x="0" y="2895600"/>
            <a:ext cx="4495800" cy="1717675"/>
          </a:xfrm>
          <a:prstGeom prst="rect">
            <a:avLst/>
          </a:prstGeom>
          <a:noFill/>
          <a:ln w="9525">
            <a:noFill/>
            <a:miter lim="800000"/>
            <a:headEnd/>
            <a:tailEnd/>
          </a:ln>
        </p:spPr>
      </p:pic>
      <p:pic>
        <p:nvPicPr>
          <p:cNvPr id="4100" name="Picture 4"/>
          <p:cNvPicPr>
            <a:picLocks noChangeAspect="1" noChangeArrowheads="1"/>
          </p:cNvPicPr>
          <p:nvPr/>
        </p:nvPicPr>
        <p:blipFill>
          <a:blip r:embed="rId6" cstate="print"/>
          <a:srcRect/>
          <a:stretch>
            <a:fillRect/>
          </a:stretch>
        </p:blipFill>
        <p:spPr bwMode="auto">
          <a:xfrm>
            <a:off x="4953001" y="762001"/>
            <a:ext cx="4191000" cy="1905000"/>
          </a:xfrm>
          <a:prstGeom prst="rect">
            <a:avLst/>
          </a:prstGeom>
          <a:noFill/>
          <a:ln w="9525">
            <a:noFill/>
            <a:miter lim="800000"/>
            <a:headEnd/>
            <a:tailEnd/>
          </a:ln>
        </p:spPr>
      </p:pic>
      <p:pic>
        <p:nvPicPr>
          <p:cNvPr id="4101" name="Picture 5"/>
          <p:cNvPicPr>
            <a:picLocks noChangeAspect="1" noChangeArrowheads="1"/>
          </p:cNvPicPr>
          <p:nvPr/>
        </p:nvPicPr>
        <p:blipFill>
          <a:blip r:embed="rId7" cstate="print"/>
          <a:srcRect/>
          <a:stretch>
            <a:fillRect/>
          </a:stretch>
        </p:blipFill>
        <p:spPr bwMode="auto">
          <a:xfrm>
            <a:off x="4953001" y="2667000"/>
            <a:ext cx="4191000" cy="1912937"/>
          </a:xfrm>
          <a:prstGeom prst="rect">
            <a:avLst/>
          </a:prstGeom>
          <a:noFill/>
          <a:ln w="9525">
            <a:noFill/>
            <a:miter lim="800000"/>
            <a:headEnd/>
            <a:tailEnd/>
          </a:ln>
        </p:spPr>
      </p:pic>
      <p:sp>
        <p:nvSpPr>
          <p:cNvPr id="9" name="Rounded Rectangle 8"/>
          <p:cNvSpPr/>
          <p:nvPr/>
        </p:nvSpPr>
        <p:spPr>
          <a:xfrm>
            <a:off x="5181600" y="304800"/>
            <a:ext cx="3200400" cy="381000"/>
          </a:xfrm>
          <a:prstGeom prst="roundRect">
            <a:avLst/>
          </a:prstGeom>
          <a:solidFill>
            <a:schemeClr val="accent6">
              <a:lumMod val="60000"/>
              <a:lumOff val="40000"/>
              <a:alpha val="20000"/>
            </a:schemeClr>
          </a:solidFill>
          <a:ln w="508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304800" y="228600"/>
            <a:ext cx="2438400" cy="457200"/>
          </a:xfrm>
          <a:prstGeom prst="roundRect">
            <a:avLst/>
          </a:prstGeom>
          <a:solidFill>
            <a:schemeClr val="accent6">
              <a:lumMod val="60000"/>
              <a:lumOff val="40000"/>
              <a:alpha val="20000"/>
            </a:schemeClr>
          </a:solidFill>
          <a:ln w="508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pPr algn="l"/>
            <a:r>
              <a:rPr lang="en-US" sz="2000" dirty="0" smtClean="0"/>
              <a:t>34 Washington                                                                     35 Breast feeding</a:t>
            </a:r>
            <a:endParaRPr lang="en-US" sz="2000" dirty="0"/>
          </a:p>
        </p:txBody>
      </p:sp>
      <p:pic>
        <p:nvPicPr>
          <p:cNvPr id="6147" name="Picture 3"/>
          <p:cNvPicPr>
            <a:picLocks noChangeAspect="1" noChangeArrowheads="1"/>
          </p:cNvPicPr>
          <p:nvPr/>
        </p:nvPicPr>
        <p:blipFill>
          <a:blip r:embed="rId2" cstate="print"/>
          <a:srcRect/>
          <a:stretch>
            <a:fillRect/>
          </a:stretch>
        </p:blipFill>
        <p:spPr bwMode="auto">
          <a:xfrm>
            <a:off x="0" y="4800600"/>
            <a:ext cx="4470287" cy="2057400"/>
          </a:xfrm>
          <a:prstGeom prst="rect">
            <a:avLst/>
          </a:prstGeom>
          <a:noFill/>
          <a:ln w="9525">
            <a:noFill/>
            <a:miter lim="800000"/>
            <a:headEnd/>
            <a:tailEnd/>
          </a:ln>
        </p:spPr>
      </p:pic>
      <p:pic>
        <p:nvPicPr>
          <p:cNvPr id="6149" name="Picture 5"/>
          <p:cNvPicPr>
            <a:picLocks noChangeAspect="1" noChangeArrowheads="1"/>
          </p:cNvPicPr>
          <p:nvPr/>
        </p:nvPicPr>
        <p:blipFill>
          <a:blip r:embed="rId3" cstate="print"/>
          <a:srcRect/>
          <a:stretch>
            <a:fillRect/>
          </a:stretch>
        </p:blipFill>
        <p:spPr bwMode="auto">
          <a:xfrm>
            <a:off x="4843309" y="4800599"/>
            <a:ext cx="4300692" cy="2057401"/>
          </a:xfrm>
          <a:prstGeom prst="rect">
            <a:avLst/>
          </a:prstGeom>
          <a:noFill/>
          <a:ln w="9525">
            <a:noFill/>
            <a:miter lim="800000"/>
            <a:headEnd/>
            <a:tailEnd/>
          </a:ln>
        </p:spPr>
      </p:pic>
      <p:pic>
        <p:nvPicPr>
          <p:cNvPr id="1026" name="Picture 2"/>
          <p:cNvPicPr>
            <a:picLocks noChangeAspect="1" noChangeArrowheads="1"/>
          </p:cNvPicPr>
          <p:nvPr/>
        </p:nvPicPr>
        <p:blipFill>
          <a:blip r:embed="rId4" cstate="print"/>
          <a:srcRect/>
          <a:stretch>
            <a:fillRect/>
          </a:stretch>
        </p:blipFill>
        <p:spPr bwMode="auto">
          <a:xfrm>
            <a:off x="0" y="2895600"/>
            <a:ext cx="4495800" cy="1989137"/>
          </a:xfrm>
          <a:prstGeom prst="rect">
            <a:avLst/>
          </a:prstGeom>
          <a:noFill/>
          <a:ln w="9525">
            <a:noFill/>
            <a:miter lim="800000"/>
            <a:headEnd/>
            <a:tailEnd/>
          </a:ln>
        </p:spPr>
      </p:pic>
      <p:pic>
        <p:nvPicPr>
          <p:cNvPr id="1027" name="Picture 3"/>
          <p:cNvPicPr>
            <a:picLocks noChangeAspect="1" noChangeArrowheads="1"/>
          </p:cNvPicPr>
          <p:nvPr/>
        </p:nvPicPr>
        <p:blipFill>
          <a:blip r:embed="rId5" cstate="print"/>
          <a:srcRect/>
          <a:stretch>
            <a:fillRect/>
          </a:stretch>
        </p:blipFill>
        <p:spPr bwMode="auto">
          <a:xfrm>
            <a:off x="0" y="762000"/>
            <a:ext cx="4495800" cy="2125663"/>
          </a:xfrm>
          <a:prstGeom prst="rect">
            <a:avLst/>
          </a:prstGeom>
          <a:noFill/>
          <a:ln w="9525">
            <a:noFill/>
            <a:miter lim="800000"/>
            <a:headEnd/>
            <a:tailEnd/>
          </a:ln>
        </p:spPr>
      </p:pic>
      <p:pic>
        <p:nvPicPr>
          <p:cNvPr id="1028" name="Picture 4"/>
          <p:cNvPicPr>
            <a:picLocks noChangeAspect="1" noChangeArrowheads="1"/>
          </p:cNvPicPr>
          <p:nvPr/>
        </p:nvPicPr>
        <p:blipFill>
          <a:blip r:embed="rId6" cstate="print"/>
          <a:srcRect/>
          <a:stretch>
            <a:fillRect/>
          </a:stretch>
        </p:blipFill>
        <p:spPr bwMode="auto">
          <a:xfrm>
            <a:off x="4876801" y="2895600"/>
            <a:ext cx="4267200" cy="1836737"/>
          </a:xfrm>
          <a:prstGeom prst="rect">
            <a:avLst/>
          </a:prstGeom>
          <a:noFill/>
          <a:ln w="9525">
            <a:noFill/>
            <a:miter lim="800000"/>
            <a:headEnd/>
            <a:tailEnd/>
          </a:ln>
        </p:spPr>
      </p:pic>
      <p:pic>
        <p:nvPicPr>
          <p:cNvPr id="1029" name="Picture 5"/>
          <p:cNvPicPr>
            <a:picLocks noChangeAspect="1" noChangeArrowheads="1"/>
          </p:cNvPicPr>
          <p:nvPr/>
        </p:nvPicPr>
        <p:blipFill>
          <a:blip r:embed="rId7" cstate="print"/>
          <a:srcRect/>
          <a:stretch>
            <a:fillRect/>
          </a:stretch>
        </p:blipFill>
        <p:spPr bwMode="auto">
          <a:xfrm>
            <a:off x="4876801" y="762000"/>
            <a:ext cx="4267200" cy="21415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411162"/>
          </a:xfrm>
        </p:spPr>
        <p:txBody>
          <a:bodyPr/>
          <a:lstStyle/>
          <a:p>
            <a:pPr algn="l"/>
            <a:r>
              <a:rPr lang="en-US" sz="2000" dirty="0" smtClean="0"/>
              <a:t>36 IQ&amp;EARNINGS 				37 ARS(USGS)                                                                    </a:t>
            </a:r>
            <a:endParaRPr lang="en-US" sz="2000" dirty="0"/>
          </a:p>
        </p:txBody>
      </p:sp>
      <p:pic>
        <p:nvPicPr>
          <p:cNvPr id="1029" name="Picture 5"/>
          <p:cNvPicPr>
            <a:picLocks noChangeAspect="1" noChangeArrowheads="1"/>
          </p:cNvPicPr>
          <p:nvPr/>
        </p:nvPicPr>
        <p:blipFill>
          <a:blip r:embed="rId2" cstate="print"/>
          <a:srcRect/>
          <a:stretch>
            <a:fillRect/>
          </a:stretch>
        </p:blipFill>
        <p:spPr bwMode="auto">
          <a:xfrm>
            <a:off x="4914900" y="762000"/>
            <a:ext cx="4229100" cy="2408237"/>
          </a:xfrm>
          <a:prstGeom prst="rect">
            <a:avLst/>
          </a:prstGeom>
          <a:noFill/>
          <a:ln w="9525">
            <a:noFill/>
            <a:miter lim="800000"/>
            <a:headEnd/>
            <a:tailEnd/>
          </a:ln>
          <a:effectLst/>
        </p:spPr>
      </p:pic>
      <p:pic>
        <p:nvPicPr>
          <p:cNvPr id="1030" name="Picture 6"/>
          <p:cNvPicPr>
            <a:picLocks noChangeAspect="1" noChangeArrowheads="1"/>
          </p:cNvPicPr>
          <p:nvPr/>
        </p:nvPicPr>
        <p:blipFill>
          <a:blip r:embed="rId3" cstate="print"/>
          <a:srcRect/>
          <a:stretch>
            <a:fillRect/>
          </a:stretch>
        </p:blipFill>
        <p:spPr bwMode="auto">
          <a:xfrm>
            <a:off x="4876801" y="3124200"/>
            <a:ext cx="4267200" cy="2179637"/>
          </a:xfrm>
          <a:prstGeom prst="rect">
            <a:avLst/>
          </a:prstGeom>
          <a:noFill/>
          <a:ln w="9525">
            <a:noFill/>
            <a:miter lim="800000"/>
            <a:headEnd/>
            <a:tailEnd/>
          </a:ln>
          <a:effectLst/>
        </p:spPr>
      </p:pic>
      <p:pic>
        <p:nvPicPr>
          <p:cNvPr id="1033" name="Picture 9"/>
          <p:cNvPicPr>
            <a:picLocks noChangeAspect="1" noChangeArrowheads="1"/>
          </p:cNvPicPr>
          <p:nvPr/>
        </p:nvPicPr>
        <p:blipFill>
          <a:blip r:embed="rId4" cstate="print"/>
          <a:srcRect/>
          <a:stretch>
            <a:fillRect/>
          </a:stretch>
        </p:blipFill>
        <p:spPr bwMode="auto">
          <a:xfrm>
            <a:off x="0" y="3124200"/>
            <a:ext cx="4495800" cy="2209799"/>
          </a:xfrm>
          <a:prstGeom prst="rect">
            <a:avLst/>
          </a:prstGeom>
          <a:noFill/>
          <a:ln w="9525">
            <a:noFill/>
            <a:miter lim="800000"/>
            <a:headEnd/>
            <a:tailEnd/>
          </a:ln>
          <a:effectLst/>
        </p:spPr>
      </p:pic>
      <p:pic>
        <p:nvPicPr>
          <p:cNvPr id="1034" name="Picture 10"/>
          <p:cNvPicPr>
            <a:picLocks noChangeAspect="1" noChangeArrowheads="1"/>
          </p:cNvPicPr>
          <p:nvPr/>
        </p:nvPicPr>
        <p:blipFill>
          <a:blip r:embed="rId5" cstate="print"/>
          <a:srcRect/>
          <a:stretch>
            <a:fillRect/>
          </a:stretch>
        </p:blipFill>
        <p:spPr bwMode="auto">
          <a:xfrm>
            <a:off x="1" y="762001"/>
            <a:ext cx="4419600" cy="2362200"/>
          </a:xfrm>
          <a:prstGeom prst="rect">
            <a:avLst/>
          </a:prstGeom>
          <a:noFill/>
          <a:ln w="9525">
            <a:noFill/>
            <a:miter lim="800000"/>
            <a:headEnd/>
            <a:tailEnd/>
          </a:ln>
          <a:effectLst/>
        </p:spPr>
      </p:pic>
      <p:pic>
        <p:nvPicPr>
          <p:cNvPr id="1026" name="Picture 2"/>
          <p:cNvPicPr>
            <a:picLocks noChangeAspect="1" noChangeArrowheads="1"/>
          </p:cNvPicPr>
          <p:nvPr/>
        </p:nvPicPr>
        <p:blipFill>
          <a:blip r:embed="rId6" cstate="print"/>
          <a:srcRect/>
          <a:stretch>
            <a:fillRect/>
          </a:stretch>
        </p:blipFill>
        <p:spPr bwMode="auto">
          <a:xfrm>
            <a:off x="1" y="5257801"/>
            <a:ext cx="4495800" cy="14478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7" cstate="print"/>
          <a:srcRect/>
          <a:stretch>
            <a:fillRect/>
          </a:stretch>
        </p:blipFill>
        <p:spPr bwMode="auto">
          <a:xfrm>
            <a:off x="4876800" y="5257801"/>
            <a:ext cx="4267199" cy="1600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lstStyle/>
          <a:p>
            <a:pPr algn="l"/>
            <a:r>
              <a:rPr lang="en-US" sz="2000" b="1" dirty="0" smtClean="0"/>
              <a:t>38 UK-DRIVE AB				39 Spain-DRIVE AB</a:t>
            </a:r>
            <a:endParaRPr lang="en-US" sz="2000" b="1" dirty="0"/>
          </a:p>
        </p:txBody>
      </p:sp>
      <p:pic>
        <p:nvPicPr>
          <p:cNvPr id="2050" name="Picture 2"/>
          <p:cNvPicPr>
            <a:picLocks noGrp="1" noChangeAspect="1" noChangeArrowheads="1"/>
          </p:cNvPicPr>
          <p:nvPr>
            <p:ph idx="1"/>
          </p:nvPr>
        </p:nvPicPr>
        <p:blipFill>
          <a:blip r:embed="rId2" cstate="print"/>
          <a:srcRect/>
          <a:stretch>
            <a:fillRect/>
          </a:stretch>
        </p:blipFill>
        <p:spPr bwMode="auto">
          <a:xfrm>
            <a:off x="0" y="685800"/>
            <a:ext cx="4594860" cy="23622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cstate="print"/>
          <a:srcRect/>
          <a:stretch>
            <a:fillRect/>
          </a:stretch>
        </p:blipFill>
        <p:spPr bwMode="auto">
          <a:xfrm>
            <a:off x="0" y="3048001"/>
            <a:ext cx="4594225" cy="2057400"/>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cstate="print"/>
          <a:srcRect/>
          <a:stretch>
            <a:fillRect/>
          </a:stretch>
        </p:blipFill>
        <p:spPr bwMode="auto">
          <a:xfrm>
            <a:off x="4556125" y="685799"/>
            <a:ext cx="4587875" cy="2362201"/>
          </a:xfrm>
          <a:prstGeom prst="rect">
            <a:avLst/>
          </a:prstGeom>
          <a:noFill/>
          <a:ln w="9525">
            <a:noFill/>
            <a:miter lim="800000"/>
            <a:headEnd/>
            <a:tailEnd/>
          </a:ln>
          <a:effectLst/>
        </p:spPr>
      </p:pic>
      <p:pic>
        <p:nvPicPr>
          <p:cNvPr id="2053" name="Picture 5"/>
          <p:cNvPicPr>
            <a:picLocks noChangeAspect="1" noChangeArrowheads="1"/>
          </p:cNvPicPr>
          <p:nvPr/>
        </p:nvPicPr>
        <p:blipFill>
          <a:blip r:embed="rId5" cstate="print"/>
          <a:srcRect/>
          <a:stretch>
            <a:fillRect/>
          </a:stretch>
        </p:blipFill>
        <p:spPr bwMode="auto">
          <a:xfrm>
            <a:off x="4549775" y="3124201"/>
            <a:ext cx="4594225" cy="1981199"/>
          </a:xfrm>
          <a:prstGeom prst="rect">
            <a:avLst/>
          </a:prstGeom>
          <a:noFill/>
          <a:ln w="9525">
            <a:noFill/>
            <a:miter lim="800000"/>
            <a:headEnd/>
            <a:tailEnd/>
          </a:ln>
          <a:effectLst/>
        </p:spPr>
      </p:pic>
      <p:pic>
        <p:nvPicPr>
          <p:cNvPr id="3" name="Picture 2"/>
          <p:cNvPicPr>
            <a:picLocks noChangeAspect="1" noChangeArrowheads="1"/>
          </p:cNvPicPr>
          <p:nvPr/>
        </p:nvPicPr>
        <p:blipFill>
          <a:blip r:embed="rId6" cstate="print"/>
          <a:srcRect/>
          <a:stretch>
            <a:fillRect/>
          </a:stretch>
        </p:blipFill>
        <p:spPr bwMode="auto">
          <a:xfrm>
            <a:off x="1" y="5029201"/>
            <a:ext cx="4572000" cy="1828800"/>
          </a:xfrm>
          <a:prstGeom prst="rect">
            <a:avLst/>
          </a:prstGeom>
          <a:noFill/>
          <a:ln w="9525">
            <a:noFill/>
            <a:miter lim="800000"/>
            <a:headEnd/>
            <a:tailEnd/>
          </a:ln>
          <a:effectLst/>
        </p:spPr>
      </p:pic>
      <p:pic>
        <p:nvPicPr>
          <p:cNvPr id="4" name="Picture 3"/>
          <p:cNvPicPr>
            <a:picLocks noChangeAspect="1" noChangeArrowheads="1"/>
          </p:cNvPicPr>
          <p:nvPr/>
        </p:nvPicPr>
        <p:blipFill>
          <a:blip r:embed="rId7" cstate="print"/>
          <a:srcRect/>
          <a:stretch>
            <a:fillRect/>
          </a:stretch>
        </p:blipFill>
        <p:spPr bwMode="auto">
          <a:xfrm>
            <a:off x="4495801" y="5029200"/>
            <a:ext cx="4648200" cy="1828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639762"/>
          </a:xfrm>
        </p:spPr>
        <p:txBody>
          <a:bodyPr/>
          <a:lstStyle/>
          <a:p>
            <a:pPr algn="l"/>
            <a:r>
              <a:rPr lang="en-US" sz="2000" b="1" dirty="0" smtClean="0"/>
              <a:t>40 ITALY-DRIVE AB				41 FRANCE-DRIVE AB</a:t>
            </a:r>
            <a:endParaRPr lang="en-US" sz="2000" b="1" dirty="0"/>
          </a:p>
        </p:txBody>
      </p:sp>
      <p:pic>
        <p:nvPicPr>
          <p:cNvPr id="3074" name="Picture 2"/>
          <p:cNvPicPr>
            <a:picLocks noGrp="1" noChangeAspect="1" noChangeArrowheads="1"/>
          </p:cNvPicPr>
          <p:nvPr>
            <p:ph idx="1"/>
          </p:nvPr>
        </p:nvPicPr>
        <p:blipFill>
          <a:blip r:embed="rId2" cstate="print"/>
          <a:srcRect/>
          <a:stretch>
            <a:fillRect/>
          </a:stretch>
        </p:blipFill>
        <p:spPr bwMode="auto">
          <a:xfrm>
            <a:off x="0" y="685800"/>
            <a:ext cx="4587240" cy="2514600"/>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cstate="print"/>
          <a:srcRect/>
          <a:stretch>
            <a:fillRect/>
          </a:stretch>
        </p:blipFill>
        <p:spPr bwMode="auto">
          <a:xfrm>
            <a:off x="0" y="3124200"/>
            <a:ext cx="4594225" cy="1981200"/>
          </a:xfrm>
          <a:prstGeom prst="rect">
            <a:avLst/>
          </a:prstGeom>
          <a:noFill/>
          <a:ln w="9525">
            <a:noFill/>
            <a:miter lim="800000"/>
            <a:headEnd/>
            <a:tailEnd/>
          </a:ln>
          <a:effectLst/>
        </p:spPr>
      </p:pic>
      <p:pic>
        <p:nvPicPr>
          <p:cNvPr id="3076" name="Picture 4"/>
          <p:cNvPicPr>
            <a:picLocks noChangeAspect="1" noChangeArrowheads="1"/>
          </p:cNvPicPr>
          <p:nvPr/>
        </p:nvPicPr>
        <p:blipFill>
          <a:blip r:embed="rId4" cstate="print"/>
          <a:srcRect/>
          <a:stretch>
            <a:fillRect/>
          </a:stretch>
        </p:blipFill>
        <p:spPr bwMode="auto">
          <a:xfrm>
            <a:off x="4648201" y="685801"/>
            <a:ext cx="4495800" cy="2438400"/>
          </a:xfrm>
          <a:prstGeom prst="rect">
            <a:avLst/>
          </a:prstGeom>
          <a:noFill/>
          <a:ln w="9525">
            <a:noFill/>
            <a:miter lim="800000"/>
            <a:headEnd/>
            <a:tailEnd/>
          </a:ln>
          <a:effectLst/>
        </p:spPr>
      </p:pic>
      <p:pic>
        <p:nvPicPr>
          <p:cNvPr id="3077" name="Picture 5"/>
          <p:cNvPicPr>
            <a:picLocks noChangeAspect="1" noChangeArrowheads="1"/>
          </p:cNvPicPr>
          <p:nvPr/>
        </p:nvPicPr>
        <p:blipFill>
          <a:blip r:embed="rId5" cstate="print"/>
          <a:srcRect/>
          <a:stretch>
            <a:fillRect/>
          </a:stretch>
        </p:blipFill>
        <p:spPr bwMode="auto">
          <a:xfrm>
            <a:off x="4549775" y="3124200"/>
            <a:ext cx="4594225" cy="19050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6" cstate="print"/>
          <a:srcRect/>
          <a:stretch>
            <a:fillRect/>
          </a:stretch>
        </p:blipFill>
        <p:spPr bwMode="auto">
          <a:xfrm>
            <a:off x="0" y="5029200"/>
            <a:ext cx="4571999" cy="18288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7" cstate="print"/>
          <a:srcRect/>
          <a:stretch>
            <a:fillRect/>
          </a:stretch>
        </p:blipFill>
        <p:spPr bwMode="auto">
          <a:xfrm>
            <a:off x="4495800" y="5029201"/>
            <a:ext cx="4648200" cy="18287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p:cNvSpPr>
            <a:spLocks noGrp="1"/>
          </p:cNvSpPr>
          <p:nvPr>
            <p:ph idx="1"/>
          </p:nvPr>
        </p:nvSpPr>
        <p:spPr>
          <a:xfrm>
            <a:off x="0" y="0"/>
            <a:ext cx="9144000" cy="6858000"/>
          </a:xfrm>
        </p:spPr>
        <p:txBody>
          <a:bodyPr/>
          <a:lstStyle/>
          <a:p>
            <a:pPr>
              <a:buNone/>
            </a:pPr>
            <a:r>
              <a:rPr lang="en-US" sz="2000" dirty="0" smtClean="0"/>
              <a:t>42 CDC All 48				43 CDC Panel 6</a:t>
            </a:r>
            <a:endParaRPr lang="en-US" sz="2000" dirty="0"/>
          </a:p>
        </p:txBody>
      </p:sp>
      <p:pic>
        <p:nvPicPr>
          <p:cNvPr id="1029" name="Picture 5"/>
          <p:cNvPicPr>
            <a:picLocks noChangeAspect="1" noChangeArrowheads="1"/>
          </p:cNvPicPr>
          <p:nvPr/>
        </p:nvPicPr>
        <p:blipFill>
          <a:blip r:embed="rId2" cstate="print"/>
          <a:srcRect/>
          <a:stretch>
            <a:fillRect/>
          </a:stretch>
        </p:blipFill>
        <p:spPr bwMode="auto">
          <a:xfrm>
            <a:off x="152400" y="609600"/>
            <a:ext cx="4038600" cy="2016320"/>
          </a:xfrm>
          <a:prstGeom prst="rect">
            <a:avLst/>
          </a:prstGeom>
          <a:noFill/>
          <a:ln w="9525">
            <a:noFill/>
            <a:miter lim="800000"/>
            <a:headEnd/>
            <a:tailEnd/>
          </a:ln>
          <a:effectLst/>
        </p:spPr>
      </p:pic>
      <p:pic>
        <p:nvPicPr>
          <p:cNvPr id="1030" name="Picture 6"/>
          <p:cNvPicPr>
            <a:picLocks noChangeAspect="1" noChangeArrowheads="1"/>
          </p:cNvPicPr>
          <p:nvPr/>
        </p:nvPicPr>
        <p:blipFill>
          <a:blip r:embed="rId3" cstate="print"/>
          <a:srcRect/>
          <a:stretch>
            <a:fillRect/>
          </a:stretch>
        </p:blipFill>
        <p:spPr bwMode="auto">
          <a:xfrm>
            <a:off x="0" y="2743200"/>
            <a:ext cx="4343400" cy="2064035"/>
          </a:xfrm>
          <a:prstGeom prst="rect">
            <a:avLst/>
          </a:prstGeom>
          <a:noFill/>
          <a:ln w="9525">
            <a:noFill/>
            <a:miter lim="800000"/>
            <a:headEnd/>
            <a:tailEnd/>
          </a:ln>
          <a:effectLst/>
        </p:spPr>
      </p:pic>
      <p:pic>
        <p:nvPicPr>
          <p:cNvPr id="1031" name="Picture 7"/>
          <p:cNvPicPr>
            <a:picLocks noChangeAspect="1" noChangeArrowheads="1"/>
          </p:cNvPicPr>
          <p:nvPr/>
        </p:nvPicPr>
        <p:blipFill>
          <a:blip r:embed="rId4" cstate="print"/>
          <a:srcRect/>
          <a:stretch>
            <a:fillRect/>
          </a:stretch>
        </p:blipFill>
        <p:spPr bwMode="auto">
          <a:xfrm>
            <a:off x="0" y="4748097"/>
            <a:ext cx="4343400" cy="2109903"/>
          </a:xfrm>
          <a:prstGeom prst="rect">
            <a:avLst/>
          </a:prstGeom>
          <a:noFill/>
          <a:ln w="9525">
            <a:noFill/>
            <a:miter lim="800000"/>
            <a:headEnd/>
            <a:tailEnd/>
          </a:ln>
          <a:effectLst/>
        </p:spPr>
      </p:pic>
      <p:pic>
        <p:nvPicPr>
          <p:cNvPr id="1032" name="Picture 8"/>
          <p:cNvPicPr>
            <a:picLocks noChangeAspect="1" noChangeArrowheads="1"/>
          </p:cNvPicPr>
          <p:nvPr/>
        </p:nvPicPr>
        <p:blipFill>
          <a:blip r:embed="rId5" cstate="print"/>
          <a:srcRect/>
          <a:stretch>
            <a:fillRect/>
          </a:stretch>
        </p:blipFill>
        <p:spPr bwMode="auto">
          <a:xfrm>
            <a:off x="4572000" y="533401"/>
            <a:ext cx="4572000" cy="2155770"/>
          </a:xfrm>
          <a:prstGeom prst="rect">
            <a:avLst/>
          </a:prstGeom>
          <a:noFill/>
          <a:ln w="9525">
            <a:noFill/>
            <a:miter lim="800000"/>
            <a:headEnd/>
            <a:tailEnd/>
          </a:ln>
          <a:effectLst/>
        </p:spPr>
      </p:pic>
      <p:pic>
        <p:nvPicPr>
          <p:cNvPr id="1033" name="Picture 9"/>
          <p:cNvPicPr>
            <a:picLocks noChangeAspect="1" noChangeArrowheads="1"/>
          </p:cNvPicPr>
          <p:nvPr/>
        </p:nvPicPr>
        <p:blipFill>
          <a:blip r:embed="rId6" cstate="print"/>
          <a:srcRect/>
          <a:stretch>
            <a:fillRect/>
          </a:stretch>
        </p:blipFill>
        <p:spPr bwMode="auto">
          <a:xfrm>
            <a:off x="4572000" y="2667000"/>
            <a:ext cx="4572000" cy="2064035"/>
          </a:xfrm>
          <a:prstGeom prst="rect">
            <a:avLst/>
          </a:prstGeom>
          <a:noFill/>
          <a:ln w="9525">
            <a:noFill/>
            <a:miter lim="800000"/>
            <a:headEnd/>
            <a:tailEnd/>
          </a:ln>
          <a:effectLst/>
        </p:spPr>
      </p:pic>
      <p:pic>
        <p:nvPicPr>
          <p:cNvPr id="1034" name="Picture 10"/>
          <p:cNvPicPr>
            <a:picLocks noChangeAspect="1" noChangeArrowheads="1"/>
          </p:cNvPicPr>
          <p:nvPr/>
        </p:nvPicPr>
        <p:blipFill>
          <a:blip r:embed="rId7" cstate="print"/>
          <a:srcRect/>
          <a:stretch>
            <a:fillRect/>
          </a:stretch>
        </p:blipFill>
        <p:spPr bwMode="auto">
          <a:xfrm>
            <a:off x="4549775" y="4724401"/>
            <a:ext cx="4594225" cy="213360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buNone/>
            </a:pPr>
            <a:r>
              <a:rPr lang="en-US" dirty="0" smtClean="0"/>
              <a:t>44 Oswaldo GDP		  45 Oswaldo </a:t>
            </a:r>
            <a:r>
              <a:rPr lang="en-US" dirty="0" err="1" smtClean="0"/>
              <a:t>OilPrices</a:t>
            </a:r>
            <a:endParaRPr lang="en-US" dirty="0" smtClean="0"/>
          </a:p>
          <a:p>
            <a:pPr>
              <a:buNone/>
            </a:pP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1" y="533401"/>
            <a:ext cx="4419600" cy="2209799"/>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cstate="print"/>
          <a:srcRect/>
          <a:stretch>
            <a:fillRect/>
          </a:stretch>
        </p:blipFill>
        <p:spPr bwMode="auto">
          <a:xfrm>
            <a:off x="1" y="2743201"/>
            <a:ext cx="4419600" cy="1981199"/>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cstate="print"/>
          <a:srcRect/>
          <a:stretch>
            <a:fillRect/>
          </a:stretch>
        </p:blipFill>
        <p:spPr bwMode="auto">
          <a:xfrm>
            <a:off x="0" y="4724401"/>
            <a:ext cx="4419600" cy="2133600"/>
          </a:xfrm>
          <a:prstGeom prst="rect">
            <a:avLst/>
          </a:prstGeom>
          <a:noFill/>
          <a:ln w="9525">
            <a:noFill/>
            <a:miter lim="800000"/>
            <a:headEnd/>
            <a:tailEnd/>
          </a:ln>
          <a:effectLst/>
        </p:spPr>
      </p:pic>
      <p:pic>
        <p:nvPicPr>
          <p:cNvPr id="2" name="Picture 3"/>
          <p:cNvPicPr>
            <a:picLocks noChangeAspect="1" noChangeArrowheads="1"/>
          </p:cNvPicPr>
          <p:nvPr/>
        </p:nvPicPr>
        <p:blipFill>
          <a:blip r:embed="rId5" cstate="print"/>
          <a:srcRect/>
          <a:stretch>
            <a:fillRect/>
          </a:stretch>
        </p:blipFill>
        <p:spPr bwMode="auto">
          <a:xfrm>
            <a:off x="4694237" y="457201"/>
            <a:ext cx="4449763" cy="2286000"/>
          </a:xfrm>
          <a:prstGeom prst="rect">
            <a:avLst/>
          </a:prstGeom>
          <a:noFill/>
          <a:ln w="9525">
            <a:noFill/>
            <a:miter lim="800000"/>
            <a:headEnd/>
            <a:tailEnd/>
          </a:ln>
          <a:effectLst/>
        </p:spPr>
      </p:pic>
      <p:pic>
        <p:nvPicPr>
          <p:cNvPr id="4" name="Picture 4"/>
          <p:cNvPicPr>
            <a:picLocks noChangeAspect="1" noChangeArrowheads="1"/>
          </p:cNvPicPr>
          <p:nvPr/>
        </p:nvPicPr>
        <p:blipFill>
          <a:blip r:embed="rId5" cstate="print"/>
          <a:srcRect/>
          <a:stretch>
            <a:fillRect/>
          </a:stretch>
        </p:blipFill>
        <p:spPr bwMode="auto">
          <a:xfrm>
            <a:off x="4694237" y="2743201"/>
            <a:ext cx="4449763" cy="1905000"/>
          </a:xfrm>
          <a:prstGeom prst="rect">
            <a:avLst/>
          </a:prstGeom>
          <a:noFill/>
          <a:ln w="9525">
            <a:noFill/>
            <a:miter lim="800000"/>
            <a:headEnd/>
            <a:tailEnd/>
          </a:ln>
          <a:effectLst/>
        </p:spPr>
      </p:pic>
      <p:pic>
        <p:nvPicPr>
          <p:cNvPr id="5" name="Picture 5"/>
          <p:cNvPicPr>
            <a:picLocks noChangeAspect="1" noChangeArrowheads="1"/>
          </p:cNvPicPr>
          <p:nvPr/>
        </p:nvPicPr>
        <p:blipFill>
          <a:blip r:embed="rId6" cstate="print"/>
          <a:srcRect/>
          <a:stretch>
            <a:fillRect/>
          </a:stretch>
        </p:blipFill>
        <p:spPr bwMode="auto">
          <a:xfrm>
            <a:off x="4724401" y="4648201"/>
            <a:ext cx="4419600" cy="2209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563562"/>
          </a:xfrm>
        </p:spPr>
        <p:txBody>
          <a:bodyPr/>
          <a:lstStyle/>
          <a:p>
            <a:pPr algn="l"/>
            <a:r>
              <a:rPr lang="en-US" sz="2000" dirty="0" smtClean="0"/>
              <a:t>46 </a:t>
            </a:r>
            <a:r>
              <a:rPr lang="en-US" sz="2000" dirty="0" err="1" smtClean="0"/>
              <a:t>Brexit</a:t>
            </a:r>
            <a:r>
              <a:rPr lang="en-US" sz="2000" dirty="0" smtClean="0"/>
              <a:t>  				 47 </a:t>
            </a:r>
            <a:r>
              <a:rPr lang="en-US" sz="2000" dirty="0" err="1" smtClean="0"/>
              <a:t>Tadini</a:t>
            </a:r>
            <a:r>
              <a:rPr lang="en-US" sz="2000" dirty="0" smtClean="0"/>
              <a:t> Quito</a:t>
            </a:r>
            <a:endParaRPr lang="en-US" sz="2000" dirty="0"/>
          </a:p>
        </p:txBody>
      </p:sp>
      <p:pic>
        <p:nvPicPr>
          <p:cNvPr id="4" name="Content Placeholder 3"/>
          <p:cNvPicPr>
            <a:picLocks noGrp="1"/>
          </p:cNvPicPr>
          <p:nvPr>
            <p:ph idx="1"/>
          </p:nvPr>
        </p:nvPicPr>
        <p:blipFill>
          <a:blip r:embed="rId2" cstate="print"/>
          <a:srcRect/>
          <a:stretch>
            <a:fillRect/>
          </a:stretch>
        </p:blipFill>
        <p:spPr bwMode="auto">
          <a:xfrm>
            <a:off x="0" y="533400"/>
            <a:ext cx="4038600" cy="2057400"/>
          </a:xfrm>
          <a:prstGeom prst="rect">
            <a:avLst/>
          </a:prstGeom>
          <a:noFill/>
        </p:spPr>
      </p:pic>
      <p:pic>
        <p:nvPicPr>
          <p:cNvPr id="5" name="Picture 4"/>
          <p:cNvPicPr/>
          <p:nvPr/>
        </p:nvPicPr>
        <p:blipFill>
          <a:blip r:embed="rId3" cstate="print"/>
          <a:srcRect/>
          <a:stretch>
            <a:fillRect/>
          </a:stretch>
        </p:blipFill>
        <p:spPr bwMode="auto">
          <a:xfrm>
            <a:off x="152400" y="2590800"/>
            <a:ext cx="3886200" cy="2168769"/>
          </a:xfrm>
          <a:prstGeom prst="rect">
            <a:avLst/>
          </a:prstGeom>
          <a:noFill/>
        </p:spPr>
      </p:pic>
      <p:pic>
        <p:nvPicPr>
          <p:cNvPr id="6" name="Picture 5"/>
          <p:cNvPicPr/>
          <p:nvPr/>
        </p:nvPicPr>
        <p:blipFill>
          <a:blip r:embed="rId4" cstate="print"/>
          <a:srcRect/>
          <a:stretch>
            <a:fillRect/>
          </a:stretch>
        </p:blipFill>
        <p:spPr bwMode="auto">
          <a:xfrm>
            <a:off x="4800600" y="457200"/>
            <a:ext cx="4343400" cy="1905000"/>
          </a:xfrm>
          <a:prstGeom prst="rect">
            <a:avLst/>
          </a:prstGeom>
          <a:noFill/>
        </p:spPr>
      </p:pic>
      <p:pic>
        <p:nvPicPr>
          <p:cNvPr id="7" name="Picture 6"/>
          <p:cNvPicPr/>
          <p:nvPr/>
        </p:nvPicPr>
        <p:blipFill>
          <a:blip r:embed="rId5" cstate="print"/>
          <a:srcRect r="6074"/>
          <a:stretch>
            <a:fillRect/>
          </a:stretch>
        </p:blipFill>
        <p:spPr bwMode="auto">
          <a:xfrm>
            <a:off x="4800600" y="2514600"/>
            <a:ext cx="4343400" cy="2254313"/>
          </a:xfrm>
          <a:prstGeom prst="rect">
            <a:avLst/>
          </a:prstGeom>
          <a:noFill/>
        </p:spPr>
      </p:pic>
      <p:pic>
        <p:nvPicPr>
          <p:cNvPr id="1026" name="Picture 2"/>
          <p:cNvPicPr>
            <a:picLocks noChangeAspect="1" noChangeArrowheads="1"/>
          </p:cNvPicPr>
          <p:nvPr/>
        </p:nvPicPr>
        <p:blipFill>
          <a:blip r:embed="rId6" cstate="print"/>
          <a:srcRect/>
          <a:stretch>
            <a:fillRect/>
          </a:stretch>
        </p:blipFill>
        <p:spPr bwMode="auto">
          <a:xfrm>
            <a:off x="1" y="4800601"/>
            <a:ext cx="4038600" cy="20574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7" cstate="print"/>
          <a:srcRect/>
          <a:stretch>
            <a:fillRect/>
          </a:stretch>
        </p:blipFill>
        <p:spPr bwMode="auto">
          <a:xfrm>
            <a:off x="4868863" y="4800601"/>
            <a:ext cx="4275137" cy="205740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563562"/>
          </a:xfrm>
        </p:spPr>
        <p:txBody>
          <a:bodyPr/>
          <a:lstStyle/>
          <a:p>
            <a:pPr algn="l"/>
            <a:r>
              <a:rPr lang="en-US" sz="2000" dirty="0" smtClean="0"/>
              <a:t>48 </a:t>
            </a:r>
            <a:r>
              <a:rPr lang="en-US" sz="2000" dirty="0" err="1" smtClean="0"/>
              <a:t>Tadini</a:t>
            </a:r>
            <a:r>
              <a:rPr lang="en-US" sz="2000" dirty="0" smtClean="0"/>
              <a:t> Clermont 						</a:t>
            </a:r>
            <a:endParaRPr lang="en-US" sz="2000" dirty="0"/>
          </a:p>
        </p:txBody>
      </p:sp>
      <p:pic>
        <p:nvPicPr>
          <p:cNvPr id="9" name="Picture 8"/>
          <p:cNvPicPr/>
          <p:nvPr/>
        </p:nvPicPr>
        <p:blipFill>
          <a:blip r:embed="rId2" cstate="print"/>
          <a:srcRect/>
          <a:stretch>
            <a:fillRect/>
          </a:stretch>
        </p:blipFill>
        <p:spPr bwMode="auto">
          <a:xfrm>
            <a:off x="0" y="457200"/>
            <a:ext cx="3802673" cy="2277808"/>
          </a:xfrm>
          <a:prstGeom prst="rect">
            <a:avLst/>
          </a:prstGeom>
          <a:noFill/>
        </p:spPr>
      </p:pic>
      <p:pic>
        <p:nvPicPr>
          <p:cNvPr id="10" name="Picture 9"/>
          <p:cNvPicPr/>
          <p:nvPr/>
        </p:nvPicPr>
        <p:blipFill>
          <a:blip r:embed="rId3" cstate="print"/>
          <a:srcRect/>
          <a:stretch>
            <a:fillRect/>
          </a:stretch>
        </p:blipFill>
        <p:spPr bwMode="auto">
          <a:xfrm>
            <a:off x="0" y="2590800"/>
            <a:ext cx="3697165" cy="2214608"/>
          </a:xfrm>
          <a:prstGeom prst="rect">
            <a:avLst/>
          </a:prstGeom>
          <a:noFill/>
        </p:spPr>
      </p:pic>
      <p:pic>
        <p:nvPicPr>
          <p:cNvPr id="2050" name="Picture 2"/>
          <p:cNvPicPr>
            <a:picLocks noChangeAspect="1" noChangeArrowheads="1"/>
          </p:cNvPicPr>
          <p:nvPr/>
        </p:nvPicPr>
        <p:blipFill>
          <a:blip r:embed="rId4" cstate="print"/>
          <a:srcRect/>
          <a:stretch>
            <a:fillRect/>
          </a:stretch>
        </p:blipFill>
        <p:spPr bwMode="auto">
          <a:xfrm>
            <a:off x="1" y="4724400"/>
            <a:ext cx="3810000" cy="2133600"/>
          </a:xfrm>
          <a:prstGeom prst="rect">
            <a:avLst/>
          </a:prstGeom>
          <a:noFill/>
          <a:ln w="9525">
            <a:noFill/>
            <a:miter lim="800000"/>
            <a:headEnd/>
            <a:tailEnd/>
          </a:ln>
          <a:effectLst/>
        </p:spPr>
      </p:pic>
      <p:sp>
        <p:nvSpPr>
          <p:cNvPr id="6" name="TextBox 5"/>
          <p:cNvSpPr txBox="1"/>
          <p:nvPr/>
        </p:nvSpPr>
        <p:spPr>
          <a:xfrm>
            <a:off x="5334000" y="3886200"/>
            <a:ext cx="3429000" cy="2462213"/>
          </a:xfrm>
          <a:prstGeom prst="rect">
            <a:avLst/>
          </a:prstGeom>
          <a:noFill/>
          <a:ln w="50800">
            <a:solidFill>
              <a:schemeClr val="accent1"/>
            </a:solidFill>
          </a:ln>
        </p:spPr>
        <p:txBody>
          <a:bodyPr wrap="square" rtlCol="0">
            <a:spAutoFit/>
          </a:bodyPr>
          <a:lstStyle/>
          <a:p>
            <a:r>
              <a:rPr lang="en-US" sz="1400" dirty="0" smtClean="0"/>
              <a:t>NB the study Political Violence had too many calibration vbls for the cross validation code.  49 studies were tallied in the </a:t>
            </a:r>
            <a:r>
              <a:rPr lang="en-US" sz="1400" dirty="0" smtClean="0">
                <a:hlinkClick r:id="rId5"/>
              </a:rPr>
              <a:t>Int’l J Forecasting</a:t>
            </a:r>
            <a:r>
              <a:rPr lang="en-US" sz="1400" dirty="0" smtClean="0"/>
              <a:t> (2019)article,   but only with 80% of calibration vbls. This </a:t>
            </a:r>
            <a:r>
              <a:rPr lang="en-US" sz="1400" dirty="0" err="1" smtClean="0"/>
              <a:t>aticle</a:t>
            </a:r>
            <a:r>
              <a:rPr lang="en-US" sz="1400" dirty="0" smtClean="0"/>
              <a:t> </a:t>
            </a:r>
            <a:r>
              <a:rPr lang="en-US" sz="1400" dirty="0" smtClean="0"/>
              <a:t>also treats the Random Expert Hypothesis.</a:t>
            </a:r>
          </a:p>
          <a:p>
            <a:endParaRPr lang="en-US" sz="1400" dirty="0" smtClean="0"/>
          </a:p>
          <a:p>
            <a:r>
              <a:rPr lang="en-US" sz="1400" dirty="0" smtClean="0"/>
              <a:t>The best source for the cross validation is the </a:t>
            </a:r>
            <a:r>
              <a:rPr lang="en-US" sz="1400" dirty="0" smtClean="0">
                <a:hlinkClick r:id="rId6"/>
              </a:rPr>
              <a:t>RESS</a:t>
            </a:r>
            <a:r>
              <a:rPr lang="en-US" sz="1400" dirty="0" smtClean="0"/>
              <a:t> 2017 article, although that uses the 33 then completed studies.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pPr algn="l"/>
            <a:r>
              <a:rPr lang="en-US" sz="1600" dirty="0" smtClean="0"/>
              <a:t>Results Random Expert Hypothesis. On the vertical axes are the number of studies in which the six performance metrics of the original exceeds the percentile of the respective REH distributions given on the horizontal axes.  P-values for selected excedences are shown.</a:t>
            </a:r>
            <a:endParaRPr lang="en-US" dirty="0"/>
          </a:p>
        </p:txBody>
      </p:sp>
      <p:pic>
        <p:nvPicPr>
          <p:cNvPr id="4" name="Content Placeholder 3"/>
          <p:cNvPicPr>
            <a:picLocks noGrp="1"/>
          </p:cNvPicPr>
          <p:nvPr>
            <p:ph idx="1"/>
          </p:nvPr>
        </p:nvPicPr>
        <p:blipFill>
          <a:blip r:embed="rId2" cstate="print"/>
          <a:srcRect t="1511"/>
          <a:stretch>
            <a:fillRect/>
          </a:stretch>
        </p:blipFill>
        <p:spPr bwMode="auto">
          <a:xfrm>
            <a:off x="0" y="1143000"/>
            <a:ext cx="5181600" cy="2819400"/>
          </a:xfrm>
          <a:prstGeom prst="rect">
            <a:avLst/>
          </a:prstGeom>
          <a:noFill/>
          <a:ln w="9525">
            <a:noFill/>
            <a:miter lim="800000"/>
            <a:headEnd/>
            <a:tailEnd/>
          </a:ln>
        </p:spPr>
      </p:pic>
      <p:pic>
        <p:nvPicPr>
          <p:cNvPr id="5" name="Picture 4"/>
          <p:cNvPicPr/>
          <p:nvPr/>
        </p:nvPicPr>
        <p:blipFill>
          <a:blip r:embed="rId3" cstate="print"/>
          <a:srcRect/>
          <a:stretch>
            <a:fillRect/>
          </a:stretch>
        </p:blipFill>
        <p:spPr bwMode="auto">
          <a:xfrm>
            <a:off x="0" y="3657600"/>
            <a:ext cx="5181600" cy="320040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849562"/>
          </a:xfrm>
        </p:spPr>
        <p:txBody>
          <a:bodyPr/>
          <a:lstStyle/>
          <a:p>
            <a:r>
              <a:rPr lang="en-US" dirty="0" smtClean="0"/>
              <a:t>42 of 49, PW combined score &gt; EW Combined score out of sample (80% of calibration vbls in DM)</a:t>
            </a:r>
            <a:endParaRPr lang="en-US" dirty="0"/>
          </a:p>
        </p:txBody>
      </p:sp>
      <p:sp>
        <p:nvSpPr>
          <p:cNvPr id="3" name="Content Placeholder 2"/>
          <p:cNvSpPr>
            <a:spLocks noGrp="1"/>
          </p:cNvSpPr>
          <p:nvPr>
            <p:ph idx="1"/>
          </p:nvPr>
        </p:nvSpPr>
        <p:spPr>
          <a:xfrm>
            <a:off x="228600" y="5257800"/>
            <a:ext cx="6553200" cy="1066800"/>
          </a:xfrm>
        </p:spPr>
        <p:txBody>
          <a:bodyPr/>
          <a:lstStyle/>
          <a:p>
            <a:r>
              <a:rPr lang="en-US" sz="2400" dirty="0" smtClean="0"/>
              <a:t>Older results, </a:t>
            </a:r>
            <a:r>
              <a:rPr lang="en-US" sz="2400" dirty="0" smtClean="0">
                <a:hlinkClick r:id="rId2"/>
              </a:rPr>
              <a:t>Eggstaff et al 2012</a:t>
            </a:r>
            <a:endParaRPr lang="en-US" sz="2400" dirty="0" smtClean="0"/>
          </a:p>
          <a:p>
            <a:r>
              <a:rPr lang="en-US" sz="2400" dirty="0" smtClean="0"/>
              <a:t>Colson and Cooke </a:t>
            </a:r>
            <a:r>
              <a:rPr lang="en-US" sz="2400" dirty="0" smtClean="0">
                <a:hlinkClick r:id="rId3"/>
              </a:rPr>
              <a:t>2017</a:t>
            </a:r>
            <a:r>
              <a:rPr lang="en-US" sz="2400" dirty="0" smtClean="0"/>
              <a:t>, </a:t>
            </a:r>
            <a:r>
              <a:rPr lang="en-US" sz="2400" dirty="0" smtClean="0">
                <a:hlinkClick r:id="rId4"/>
              </a:rPr>
              <a:t>2018</a:t>
            </a:r>
            <a:r>
              <a:rPr lang="en-US" sz="2400" dirty="0" smtClean="0"/>
              <a:t>, </a:t>
            </a:r>
            <a:r>
              <a:rPr lang="en-US" sz="2400" dirty="0" smtClean="0">
                <a:hlinkClick r:id="rId5"/>
              </a:rPr>
              <a:t>Cooke et al 2019</a:t>
            </a:r>
            <a:endParaRPr lang="en-US" sz="2400" dirty="0" smtClean="0"/>
          </a:p>
          <a:p>
            <a:endParaRPr lang="en-US" dirty="0" smtClean="0"/>
          </a:p>
          <a:p>
            <a:endParaRPr lang="en-US" dirty="0"/>
          </a:p>
        </p:txBody>
      </p:sp>
      <p:sp>
        <p:nvSpPr>
          <p:cNvPr id="4" name="TextBox 3"/>
          <p:cNvSpPr txBox="1"/>
          <p:nvPr/>
        </p:nvSpPr>
        <p:spPr>
          <a:xfrm>
            <a:off x="304800" y="3733800"/>
            <a:ext cx="7924800" cy="1384995"/>
          </a:xfrm>
          <a:prstGeom prst="rect">
            <a:avLst/>
          </a:prstGeom>
          <a:noFill/>
          <a:ln w="50800">
            <a:solidFill>
              <a:schemeClr val="accent1"/>
            </a:solidFill>
          </a:ln>
        </p:spPr>
        <p:txBody>
          <a:bodyPr wrap="square" rtlCol="0">
            <a:spAutoFit/>
          </a:bodyPr>
          <a:lstStyle/>
          <a:p>
            <a:r>
              <a:rPr lang="en-US" sz="1400" dirty="0" smtClean="0"/>
              <a:t>NB the study Political Violence had too many calibration vbls for the cross validation code.  49 studies were tallied in the </a:t>
            </a:r>
            <a:r>
              <a:rPr lang="en-US" sz="1400" dirty="0" smtClean="0">
                <a:hlinkClick r:id="rId5"/>
              </a:rPr>
              <a:t>Int’l J Forecasting</a:t>
            </a:r>
            <a:r>
              <a:rPr lang="en-US" sz="1400" dirty="0" smtClean="0"/>
              <a:t> (</a:t>
            </a:r>
            <a:r>
              <a:rPr lang="en-US" sz="1400" smtClean="0"/>
              <a:t>2019) article</a:t>
            </a:r>
            <a:r>
              <a:rPr lang="en-US" sz="1400" dirty="0" smtClean="0"/>
              <a:t>,   but only with 80% of calibration vbls. This article also treats the Random Expert Hypothesis.</a:t>
            </a:r>
          </a:p>
          <a:p>
            <a:endParaRPr lang="en-US" sz="1400" dirty="0" smtClean="0"/>
          </a:p>
          <a:p>
            <a:r>
              <a:rPr lang="en-US" sz="1400" dirty="0" smtClean="0"/>
              <a:t>The best source for the cross validation is the </a:t>
            </a:r>
            <a:r>
              <a:rPr lang="en-US" sz="1400" dirty="0" smtClean="0">
                <a:hlinkClick r:id="rId3"/>
              </a:rPr>
              <a:t>RESS</a:t>
            </a:r>
            <a:r>
              <a:rPr lang="en-US" sz="1400" dirty="0" smtClean="0"/>
              <a:t> 2017 article, although that uses the 33 then completed studies.</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554162"/>
          </a:xfrm>
        </p:spPr>
        <p:txBody>
          <a:bodyPr>
            <a:normAutofit fontScale="90000"/>
          </a:bodyPr>
          <a:lstStyle/>
          <a:p>
            <a:r>
              <a:rPr lang="en-US" sz="4000" b="1" smtClean="0"/>
              <a:t>Out </a:t>
            </a:r>
            <a:r>
              <a:rPr lang="en-US" sz="4000" b="1" dirty="0" smtClean="0"/>
              <a:t>of </a:t>
            </a:r>
            <a:r>
              <a:rPr lang="en-US" sz="4000" b="1" smtClean="0"/>
              <a:t>Sample Cross-Validation</a:t>
            </a:r>
            <a:r>
              <a:rPr lang="en-US" sz="4000" b="1" dirty="0" smtClean="0"/>
              <a:t>:</a:t>
            </a:r>
            <a:br>
              <a:rPr lang="en-US" sz="4000" b="1" dirty="0" smtClean="0"/>
            </a:br>
            <a:r>
              <a:rPr lang="en-US" sz="4000" b="1" dirty="0" smtClean="0"/>
              <a:t>of Classical Model</a:t>
            </a:r>
            <a:r>
              <a:rPr lang="en-US" dirty="0" smtClean="0"/>
              <a:t/>
            </a:r>
            <a:br>
              <a:rPr lang="en-US" dirty="0" smtClean="0"/>
            </a:br>
            <a:r>
              <a:rPr lang="en-US" sz="2200" dirty="0" smtClean="0"/>
              <a:t>62 studies, per study: geomeans of comparisons of PW/EW combined score ratios. </a:t>
            </a:r>
            <a:r>
              <a:rPr lang="en-US" sz="1800" dirty="0" smtClean="0"/>
              <a:t>Eggstaff, Mazzuchi, </a:t>
            </a:r>
            <a:r>
              <a:rPr lang="en-US" sz="1800" dirty="0" err="1" smtClean="0"/>
              <a:t>Sarkani</a:t>
            </a:r>
            <a:r>
              <a:rPr lang="en-US" sz="1800" dirty="0" smtClean="0"/>
              <a:t> (2013 RESS); </a:t>
            </a:r>
            <a:r>
              <a:rPr lang="en-US" b="1" dirty="0" smtClean="0"/>
              <a:t/>
            </a:r>
            <a:br>
              <a:rPr lang="en-US" b="1" dirty="0" smtClean="0"/>
            </a:br>
            <a:endParaRPr lang="en-US" dirty="0"/>
          </a:p>
        </p:txBody>
      </p:sp>
      <p:pic>
        <p:nvPicPr>
          <p:cNvPr id="3074" name="Picture 2"/>
          <p:cNvPicPr>
            <a:picLocks noGrp="1" noChangeAspect="1" noChangeArrowheads="1"/>
          </p:cNvPicPr>
          <p:nvPr>
            <p:ph idx="1"/>
          </p:nvPr>
        </p:nvPicPr>
        <p:blipFill>
          <a:blip r:embed="rId3" cstate="print"/>
          <a:srcRect/>
          <a:stretch>
            <a:fillRect/>
          </a:stretch>
        </p:blipFill>
        <p:spPr bwMode="auto">
          <a:xfrm>
            <a:off x="1" y="1752600"/>
            <a:ext cx="9144000" cy="421558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67400" y="274638"/>
            <a:ext cx="2819400" cy="1143000"/>
          </a:xfrm>
        </p:spPr>
        <p:txBody>
          <a:bodyPr/>
          <a:lstStyle/>
          <a:p>
            <a:pPr algn="l"/>
            <a:r>
              <a:rPr lang="en-US" sz="3200" dirty="0" smtClean="0"/>
              <a:t>2019 49 studies</a:t>
            </a:r>
            <a:endParaRPr lang="en-US" sz="3200" dirty="0"/>
          </a:p>
        </p:txBody>
      </p:sp>
      <p:pic>
        <p:nvPicPr>
          <p:cNvPr id="2050" name="Picture 2"/>
          <p:cNvPicPr>
            <a:picLocks noGrp="1" noChangeAspect="1" noChangeArrowheads="1"/>
          </p:cNvPicPr>
          <p:nvPr>
            <p:ph idx="1"/>
          </p:nvPr>
        </p:nvPicPr>
        <p:blipFill>
          <a:blip r:embed="rId2" cstate="print"/>
          <a:srcRect/>
          <a:stretch>
            <a:fillRect/>
          </a:stretch>
        </p:blipFill>
        <p:spPr bwMode="auto">
          <a:xfrm>
            <a:off x="0" y="0"/>
            <a:ext cx="5638800" cy="3394501"/>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cstate="print"/>
          <a:srcRect/>
          <a:stretch>
            <a:fillRect/>
          </a:stretch>
        </p:blipFill>
        <p:spPr bwMode="auto">
          <a:xfrm>
            <a:off x="-1" y="3429000"/>
            <a:ext cx="5688755" cy="3429000"/>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Autofit/>
          </a:bodyPr>
          <a:lstStyle/>
          <a:p>
            <a:r>
              <a:rPr lang="en-US" sz="3200" dirty="0" smtClean="0">
                <a:latin typeface="Times New Roman" pitchFamily="18" charset="0"/>
                <a:cs typeface="Times New Roman" pitchFamily="18" charset="0"/>
              </a:rPr>
              <a:t>Average over all studies per % training set size of the average </a:t>
            </a:r>
            <a:r>
              <a:rPr lang="en-US" sz="3200" i="1" dirty="0" err="1" smtClean="0">
                <a:latin typeface="Times New Roman" pitchFamily="18" charset="0"/>
                <a:cs typeface="Times New Roman" pitchFamily="18" charset="0"/>
              </a:rPr>
              <a:t>PWSa</a:t>
            </a:r>
            <a:r>
              <a:rPr lang="en-US" sz="3200" i="1" dirty="0" smtClean="0">
                <a:latin typeface="Times New Roman" pitchFamily="18" charset="0"/>
                <a:cs typeface="Times New Roman" pitchFamily="18" charset="0"/>
              </a:rPr>
              <a:t> </a:t>
            </a:r>
            <a:r>
              <a:rPr lang="en-US" sz="3200" dirty="0" smtClean="0">
                <a:latin typeface="Times New Roman" pitchFamily="18" charset="0"/>
                <a:cs typeface="Times New Roman" pitchFamily="18" charset="0"/>
              </a:rPr>
              <a:t>and average  </a:t>
            </a:r>
            <a:r>
              <a:rPr lang="en-US" sz="3200" i="1" dirty="0" err="1" smtClean="0">
                <a:latin typeface="Times New Roman" pitchFamily="18" charset="0"/>
                <a:cs typeface="Times New Roman" pitchFamily="18" charset="0"/>
              </a:rPr>
              <a:t>EWSa</a:t>
            </a:r>
            <a:r>
              <a:rPr lang="en-US" sz="3200" i="1" dirty="0" smtClean="0">
                <a:latin typeface="Times New Roman" pitchFamily="18" charset="0"/>
                <a:cs typeface="Times New Roman" pitchFamily="18" charset="0"/>
              </a:rPr>
              <a:t> (post 2006)</a:t>
            </a:r>
            <a:endParaRPr lang="en-US" sz="3200" dirty="0">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latin typeface="Times New Roman" pitchFamily="18" charset="0"/>
                <a:cs typeface="Times New Roman" pitchFamily="18" charset="0"/>
              </a:rPr>
              <a:t>Average over all studies per % training set size of the average </a:t>
            </a:r>
            <a:r>
              <a:rPr lang="en-US" sz="3200" i="1" dirty="0" err="1" smtClean="0">
                <a:latin typeface="Times New Roman" pitchFamily="18" charset="0"/>
                <a:cs typeface="Times New Roman" pitchFamily="18" charset="0"/>
              </a:rPr>
              <a:t>PWInf</a:t>
            </a:r>
            <a:r>
              <a:rPr lang="en-US" sz="3200" dirty="0" smtClean="0">
                <a:latin typeface="Times New Roman" pitchFamily="18" charset="0"/>
                <a:cs typeface="Times New Roman" pitchFamily="18" charset="0"/>
              </a:rPr>
              <a:t>  and average  </a:t>
            </a:r>
            <a:r>
              <a:rPr lang="en-US" sz="3200" i="1" dirty="0" err="1" smtClean="0">
                <a:latin typeface="Times New Roman" pitchFamily="18" charset="0"/>
                <a:cs typeface="Times New Roman" pitchFamily="18" charset="0"/>
              </a:rPr>
              <a:t>EWInf</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None/>
            </a:pPr>
            <a:r>
              <a:rPr lang="en-US" dirty="0" smtClean="0"/>
              <a:t> </a:t>
            </a:r>
            <a:endParaRPr lang="en-US" dirty="0"/>
          </a:p>
        </p:txBody>
      </p:sp>
      <p:graphicFrame>
        <p:nvGraphicFramePr>
          <p:cNvPr id="4" name="Chart 3"/>
          <p:cNvGraphicFramePr/>
          <p:nvPr/>
        </p:nvGraphicFramePr>
        <p:xfrm>
          <a:off x="990600" y="1676400"/>
          <a:ext cx="7391400" cy="44958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Average over all studies per % training set size of the average </a:t>
            </a:r>
            <a:r>
              <a:rPr lang="en-US" i="1" dirty="0" err="1" smtClean="0">
                <a:latin typeface="Times New Roman" pitchFamily="18" charset="0"/>
                <a:cs typeface="Times New Roman" pitchFamily="18" charset="0"/>
              </a:rPr>
              <a:t>PWComb</a:t>
            </a:r>
            <a:r>
              <a:rPr lang="en-US" dirty="0" smtClean="0">
                <a:latin typeface="Times New Roman" pitchFamily="18" charset="0"/>
                <a:cs typeface="Times New Roman" pitchFamily="18" charset="0"/>
              </a:rPr>
              <a:t>  and average  </a:t>
            </a:r>
            <a:r>
              <a:rPr lang="en-US" i="1" dirty="0" err="1" smtClean="0">
                <a:latin typeface="Times New Roman" pitchFamily="18" charset="0"/>
                <a:cs typeface="Times New Roman" pitchFamily="18" charset="0"/>
              </a:rPr>
              <a:t>EWComb</a:t>
            </a:r>
            <a:endParaRPr lang="en-US" dirty="0">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p:cNvSpPr/>
          <p:nvPr/>
        </p:nvSpPr>
        <p:spPr>
          <a:xfrm>
            <a:off x="304800" y="5943600"/>
            <a:ext cx="8305800" cy="338554"/>
          </a:xfrm>
          <a:prstGeom prst="rect">
            <a:avLst/>
          </a:prstGeom>
        </p:spPr>
        <p:txBody>
          <a:bodyPr wrap="square">
            <a:spAutoFit/>
          </a:bodyPr>
          <a:lstStyle/>
          <a:p>
            <a:r>
              <a:rPr lang="en-US" sz="1600" dirty="0" smtClean="0">
                <a:hlinkClick r:id="rId4"/>
              </a:rPr>
              <a:t>http://www.sciencedirect.com/science/article/pii/S0951832017302090</a:t>
            </a:r>
            <a:r>
              <a:rPr lang="en-US" sz="1600" dirty="0" smtClean="0"/>
              <a:t> </a:t>
            </a:r>
            <a:endParaRPr lang="en-US" sz="16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smtClean="0">
                <a:solidFill>
                  <a:srgbClr val="FFFF00"/>
                </a:solidFill>
              </a:rPr>
              <a:t>Geomean</a:t>
            </a:r>
            <a:r>
              <a:rPr lang="en-US" b="1" dirty="0" smtClean="0">
                <a:solidFill>
                  <a:srgbClr val="FFFF00"/>
                </a:solidFill>
              </a:rPr>
              <a:t> of Out-of-sample Validity Index (PW/EW,  80% training)</a:t>
            </a:r>
            <a:endParaRPr lang="en-US" b="1" dirty="0">
              <a:solidFill>
                <a:srgbClr val="FFFF00"/>
              </a:solidFill>
            </a:endParaRPr>
          </a:p>
        </p:txBody>
      </p:sp>
      <p:pic>
        <p:nvPicPr>
          <p:cNvPr id="2052" name="Picture 4"/>
          <p:cNvPicPr>
            <a:picLocks noGrp="1" noChangeAspect="1" noChangeArrowheads="1"/>
          </p:cNvPicPr>
          <p:nvPr>
            <p:ph idx="1"/>
          </p:nvPr>
        </p:nvPicPr>
        <p:blipFill>
          <a:blip r:embed="rId2" cstate="print"/>
          <a:srcRect l="7143" t="23416" r="17143"/>
          <a:stretch>
            <a:fillRect/>
          </a:stretch>
        </p:blipFill>
        <p:spPr bwMode="auto">
          <a:xfrm>
            <a:off x="0" y="1447800"/>
            <a:ext cx="5032322" cy="3886200"/>
          </a:xfrm>
          <a:prstGeom prst="rect">
            <a:avLst/>
          </a:prstGeom>
          <a:noFill/>
          <a:ln w="9525">
            <a:noFill/>
            <a:miter lim="800000"/>
            <a:headEnd/>
            <a:tailEnd/>
          </a:ln>
        </p:spPr>
      </p:pic>
      <p:pic>
        <p:nvPicPr>
          <p:cNvPr id="2053" name="Picture 5"/>
          <p:cNvPicPr>
            <a:picLocks noChangeAspect="1" noChangeArrowheads="1"/>
          </p:cNvPicPr>
          <p:nvPr/>
        </p:nvPicPr>
        <p:blipFill>
          <a:blip r:embed="rId3" cstate="print"/>
          <a:srcRect l="7821" t="22315" r="17284"/>
          <a:stretch>
            <a:fillRect/>
          </a:stretch>
        </p:blipFill>
        <p:spPr bwMode="auto">
          <a:xfrm>
            <a:off x="4470400" y="3352800"/>
            <a:ext cx="4673600" cy="3505200"/>
          </a:xfrm>
          <a:prstGeom prst="rect">
            <a:avLst/>
          </a:prstGeom>
          <a:noFill/>
          <a:ln w="9525">
            <a:noFill/>
            <a:miter lim="800000"/>
            <a:headEnd/>
            <a:tailEnd/>
          </a:ln>
        </p:spPr>
      </p:pic>
      <p:sp>
        <p:nvSpPr>
          <p:cNvPr id="9" name="Rounded Rectangle 8"/>
          <p:cNvSpPr/>
          <p:nvPr/>
        </p:nvSpPr>
        <p:spPr>
          <a:xfrm>
            <a:off x="5181600" y="1447800"/>
            <a:ext cx="3733800" cy="182880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smtClean="0"/>
              <a:t>OoSVI</a:t>
            </a:r>
            <a:r>
              <a:rPr lang="en-US" sz="2400" b="1" dirty="0" smtClean="0"/>
              <a:t> doesn’t predict current DM, but predicts a swarm of DMs related to current DM</a:t>
            </a:r>
            <a:endParaRPr 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blinds(horizontal)">
                                      <p:cBhvr>
                                        <p:cTn id="7"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pPr>
              <a:buNone/>
            </a:pPr>
            <a:r>
              <a:rPr lang="en-US" sz="1400" dirty="0" smtClean="0"/>
              <a:t>Colson .A., and Cooke, R.M., (2018) Expert Elicitation: Using the Classical Model to Validate Experts’ Judgments. Review of Environmental Economics and Policy, Volume 12, Issue 1, 1 February 2018, Pages 113–132, </a:t>
            </a:r>
            <a:r>
              <a:rPr lang="en-US" sz="1400" u="sng" dirty="0" smtClean="0">
                <a:hlinkClick r:id="rId2"/>
              </a:rPr>
              <a:t>https://doi.org/10.1093/reep/rex022</a:t>
            </a:r>
            <a:r>
              <a:rPr lang="en-US" sz="1400" dirty="0" smtClean="0"/>
              <a:t> </a:t>
            </a:r>
            <a:r>
              <a:rPr lang="en-US" sz="1400" u="sng" dirty="0" smtClean="0">
                <a:hlinkClick r:id="rId3"/>
              </a:rPr>
              <a:t>https://academic.oup.com/reep/article/12/1/113/4835830</a:t>
            </a:r>
            <a:r>
              <a:rPr lang="en-US" sz="1400" dirty="0" smtClean="0"/>
              <a:t> </a:t>
            </a:r>
          </a:p>
          <a:p>
            <a:pPr>
              <a:buNone/>
            </a:pPr>
            <a:r>
              <a:rPr lang="en-US" sz="1400" dirty="0" smtClean="0"/>
              <a:t>Colson, A.  and Cooke, R.M., (2017) Cross Validation for the Classical Model of Structured Expert Judgment, Reliability Engineering and System Safety, </a:t>
            </a:r>
            <a:r>
              <a:rPr lang="en-US" sz="1400" dirty="0" smtClean="0">
                <a:hlinkClick r:id="rId4" tooltip="Go to table of contents for this volume/issue"/>
              </a:rPr>
              <a:t>Volume 163</a:t>
            </a:r>
            <a:r>
              <a:rPr lang="en-US" sz="1400" dirty="0" smtClean="0"/>
              <a:t>, July 2017, Pages 109–120 </a:t>
            </a:r>
            <a:r>
              <a:rPr lang="en-US" sz="1400" dirty="0" smtClean="0">
                <a:hlinkClick r:id="rId5"/>
              </a:rPr>
              <a:t>http://dx.doi.org/10.1016/j.ress.2017.02.003</a:t>
            </a:r>
            <a:r>
              <a:rPr lang="en-US" sz="1400" dirty="0" smtClean="0"/>
              <a:t>  </a:t>
            </a:r>
          </a:p>
          <a:p>
            <a:pPr>
              <a:buNone/>
            </a:pPr>
            <a:r>
              <a:rPr lang="en-US" sz="1400" dirty="0" err="1" smtClean="0"/>
              <a:t>Eggstaff,J.W</a:t>
            </a:r>
            <a:r>
              <a:rPr lang="en-US" sz="1400" dirty="0" smtClean="0"/>
              <a:t>., </a:t>
            </a:r>
            <a:r>
              <a:rPr lang="en-US" sz="1400" dirty="0" err="1" smtClean="0"/>
              <a:t>Mazzuchi,T.A</a:t>
            </a:r>
            <a:r>
              <a:rPr lang="en-US" sz="1400" dirty="0" smtClean="0"/>
              <a:t>.  </a:t>
            </a:r>
            <a:r>
              <a:rPr lang="en-US" sz="1400" dirty="0" err="1" smtClean="0"/>
              <a:t>Sarkani</a:t>
            </a:r>
            <a:r>
              <a:rPr lang="en-US" sz="1400" dirty="0" smtClean="0"/>
              <a:t>, S.  (2014) The Effect of the Number of Seed Variables on the Performance of Cooke’s Classical Model, Reliability Engineering and System Safety 121 (2014) 72–82. DOI: 10.1016/j.ress.2013.07.015   </a:t>
            </a:r>
          </a:p>
          <a:p>
            <a:pPr>
              <a:buNone/>
            </a:pPr>
            <a:r>
              <a:rPr lang="en-US" sz="1400" dirty="0" smtClean="0"/>
              <a:t>Cooke, Roger M., Marti, Deniz and Mazzuchi, Thomas A., (2020)  Expert Forecasting with and without Uncertainty Quantification and Weighting: What Do the Data Say? International Journal of Forecasting, published online July 25 2020 </a:t>
            </a:r>
            <a:r>
              <a:rPr lang="en-US" sz="1400" u="sng" dirty="0" smtClean="0">
                <a:hlinkClick r:id="rId6" tooltip="Persistent link using digital object identifier"/>
              </a:rPr>
              <a:t>https://doi.org/10.1016/j.ijforecast.2020.06.007</a:t>
            </a:r>
            <a:r>
              <a:rPr lang="en-US" sz="1400" dirty="0" smtClean="0"/>
              <a:t> </a:t>
            </a:r>
          </a:p>
          <a:p>
            <a:pPr>
              <a:buNone/>
            </a:pP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5181</TotalTime>
  <Words>706</Words>
  <Application>Microsoft Office PowerPoint</Application>
  <PresentationFormat>On-screen Show (4:3)</PresentationFormat>
  <Paragraphs>70</Paragraphs>
  <Slides>34</Slides>
  <Notes>5</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1.Raveem GeoPolitRisk                                                                   </vt:lpstr>
      <vt:lpstr>2. Arkansas                                                         3. Arsenic  PW = BE</vt:lpstr>
      <vt:lpstr>4. ATCEP                                                                    5. Biol agents</vt:lpstr>
      <vt:lpstr>6. CDC ROI    PW=BE                                        7.Covering Kids</vt:lpstr>
      <vt:lpstr>8. Create                                                                   9.  CWD </vt:lpstr>
      <vt:lpstr>10. Daniela  PW=BE                                                               11. DCPN Fistula</vt:lpstr>
      <vt:lpstr>12.EBBP                                                               13. Effusive Erupt</vt:lpstr>
      <vt:lpstr>14 Erie Carps                                                          15 FCEP  PW=BE</vt:lpstr>
      <vt:lpstr>16 Florida                                                                     17 Gerstenberger</vt:lpstr>
      <vt:lpstr>18 GL-NIS                                                                    19 Goodheart PW=BE</vt:lpstr>
      <vt:lpstr>20 Hemophilia                                                       21 Ice Sheets PW=BE</vt:lpstr>
      <vt:lpstr> 22 Illinois                                                                     23 Liander</vt:lpstr>
      <vt:lpstr>24 Nebraska  PW=BE                                            25 Obesity PW=BE</vt:lpstr>
      <vt:lpstr>26 PHAC _2009_T4                                               27 San Diego</vt:lpstr>
      <vt:lpstr>28 Sheep_Scab PW=BE                                                                  29 Speed</vt:lpstr>
      <vt:lpstr>30 TDC  PW=BE                                                   31 Tobacco PW=BE </vt:lpstr>
      <vt:lpstr>32 Topaz PW=BE                                                      33 UMD_Nremoval PW=BE</vt:lpstr>
      <vt:lpstr>34 Washington                                                                     35 Breast feeding</vt:lpstr>
      <vt:lpstr>36 IQ&amp;EARNINGS     37 ARS(USGS)                                                                    </vt:lpstr>
      <vt:lpstr>38 UK-DRIVE AB    39 Spain-DRIVE AB</vt:lpstr>
      <vt:lpstr>40 ITALY-DRIVE AB    41 FRANCE-DRIVE AB</vt:lpstr>
      <vt:lpstr>Slide 22</vt:lpstr>
      <vt:lpstr>Slide 23</vt:lpstr>
      <vt:lpstr>46 Brexit       47 Tadini Quito</vt:lpstr>
      <vt:lpstr>48 Tadini Clermont       </vt:lpstr>
      <vt:lpstr>Results Random Expert Hypothesis. On the vertical axes are the number of studies in which the six performance metrics of the original exceeds the percentile of the respective REH distributions given on the horizontal axes.  P-values for selected excedences are shown.</vt:lpstr>
      <vt:lpstr>42 of 49, PW combined score &gt; EW Combined score out of sample (80% of calibration vbls in DM)</vt:lpstr>
      <vt:lpstr>Out of Sample Cross-Validation: of Classical Model 62 studies, per study: geomeans of comparisons of PW/EW combined score ratios. Eggstaff, Mazzuchi, Sarkani (2013 RESS);  </vt:lpstr>
      <vt:lpstr>2019 49 studies</vt:lpstr>
      <vt:lpstr>Average over all studies per % training set size of the average PWSa and average  EWSa (post 2006)</vt:lpstr>
      <vt:lpstr>Average over all studies per % training set size of the average PWInf  and average  EWInf</vt:lpstr>
      <vt:lpstr>Average over all studies per % training set size of the average PWComb  and average  EWComb</vt:lpstr>
      <vt:lpstr>Geomean of Out-of-sample Validity Index (PW/EW,  80% training)</vt:lpstr>
      <vt:lpstr>References</vt:lpstr>
    </vt:vector>
  </TitlesOfParts>
  <Company>TUDelft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roger</dc:creator>
  <cp:lastModifiedBy>RMC</cp:lastModifiedBy>
  <cp:revision>230</cp:revision>
  <dcterms:created xsi:type="dcterms:W3CDTF">2011-09-06T13:39:38Z</dcterms:created>
  <dcterms:modified xsi:type="dcterms:W3CDTF">2021-05-25T10:20:06Z</dcterms:modified>
</cp:coreProperties>
</file>